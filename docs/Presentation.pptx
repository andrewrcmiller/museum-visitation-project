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76" r:id="rId7"/>
    <p:sldId id="261" r:id="rId8"/>
    <p:sldId id="262" r:id="rId9"/>
    <p:sldId id="263" r:id="rId10"/>
    <p:sldId id="264" r:id="rId11"/>
    <p:sldId id="265" r:id="rId12"/>
    <p:sldId id="266" r:id="rId13"/>
    <p:sldId id="267" r:id="rId14"/>
    <p:sldId id="268" r:id="rId15"/>
    <p:sldId id="278" r:id="rId16"/>
    <p:sldId id="269" r:id="rId17"/>
    <p:sldId id="280" r:id="rId18"/>
    <p:sldId id="281" r:id="rId19"/>
    <p:sldId id="270" r:id="rId20"/>
    <p:sldId id="271" r:id="rId21"/>
    <p:sldId id="284" r:id="rId22"/>
    <p:sldId id="285" r:id="rId23"/>
    <p:sldId id="286" r:id="rId24"/>
    <p:sldId id="287" r:id="rId25"/>
    <p:sldId id="272" r:id="rId26"/>
    <p:sldId id="283" r:id="rId27"/>
    <p:sldId id="282" r:id="rId28"/>
    <p:sldId id="273" r:id="rId29"/>
    <p:sldId id="274" r:id="rId30"/>
    <p:sldId id="27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2410"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9CBBF3-39B3-4B0E-86C6-E85FC9EFB94F}" type="datetimeFigureOut">
              <a:t>5/14/2026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585993-997F-4C41-87F5-7F638850FE68}" type="slidenum">
              <a:t>‹#›</a:t>
            </a:fld>
            <a:endParaRPr lang="en-US"/>
          </a:p>
        </p:txBody>
      </p:sp>
    </p:spTree>
    <p:extLst>
      <p:ext uri="{BB962C8B-B14F-4D97-AF65-F5344CB8AC3E}">
        <p14:creationId xmlns:p14="http://schemas.microsoft.com/office/powerpoint/2010/main" val="3521776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Welcome the audience. One-line goal: build a monthly forecast of museum visitors by combining attendance history, weather, Google search interest, and calendar features. Note that we standardized on the Avila Adobe museum in Los Angeles for the deep dive.</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Frame this as a real operational problem, not a pure ML exercise. Museums are tight on staffing budgets and rely on monthly headcount projections for both labor and marketing spend. Forecasting accurately moves dollars.</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Google Trends does not give literal search counts — it gives 0–100 relative interest within each comparison window. We treat it as a demand-intent signal that arrives slightly before the visit itself.</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Hand off to teammates for source-specific deep dives if asked. Highlight that the final modeling table is a single monthly row per LA museum, with all four streams pre-joined.</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Walk left column top-to-bottom, then right column. Each box maps directly to a notebook in the repo: 01_museum_data, 02_weather_data, 04_calendar_features, 03_google_trends, 05_feature_engineering, 06_modeling.</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Weather variables capture environmental conditions that influence whether people choose indoor attractions. Calendar features encode the recurring tourism cycle so the model doesn't have to learn 'July is busy' from scratch.</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Lag and time-series features end up doing most of the work. visitors_lag1 (last month) and visitors_lag12 (same month a year ago) carry the dominant signal because museum traffic is highly seasonal and persistent month-over-month.</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These are the highest-coverage terms across the full 2014–2026 window. Note the COVID-era trough in 2020–21 and the gradual recovery. The sustained stand-outs are the tourism-discovery and lifestyle-history themes.</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This is the dataset-period view. Three backfill terms ('heritage tourism Los Angeles', 'historical sites Los Angeles', 'things to do in LA for 2 hours') are blank because they were collected later and excluded from this window.</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Three themes scored ≥ 30: competitor (50.05), tourism_discovery (42.63), lifestyle_history (30.07). These themes — plus the top Avila correlators — made up the 18-term selected dataset for the extended 2014–2026 pull.</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Avila visitors (black dashed) overlaid on the three best-correlated terms: Los Angeles history (r = 0.824), Olvera Street (r = 0.774), things to do in Los Angeles (r = 0.714). All series are min-max scaled — the only fair way to compare visitor counts against 0–100 search interest. Notice the COVID dip in 2020 lines up across all four series.</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Key narrative beat: the negative R² on linear regression is not a fluke — it is a textbook symptom of correlated predictors. Lasso's L1 penalty zeroed the duplicates and collapsed the model to a much smaller, well-behaved set, which is why it ended up on top.</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Walk top to bottom: Linear and Cleaned Linear regress to a negative R² (-0.879). LASSO and LASSO-LARS are essentially tied with R² ≈ 0.78. RF and GB land in the 0.25–0.39 range. The headline number is RMSE ≈ 2,982 visitors per month for LASSO-LARS.</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LARS shows the order in which features enter the active set as the L1 budget grows. visitors_lag1 and visitors_lag12 enter early and stay; most Trends terms either enter late or never — visual proof of the redundancy story.</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91FF8-2F77-0F35-BE39-6DBA1124D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D4F94-2D75-0A7A-C838-56A79F66F0F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355F13-8269-2D1B-6810-63FCBCEEE7C5}"/>
              </a:ext>
            </a:extLst>
          </p:cNvPr>
          <p:cNvSpPr>
            <a:spLocks noGrp="1"/>
          </p:cNvSpPr>
          <p:nvPr>
            <p:ph type="body" sz="quarter" idx="3"/>
          </p:nvPr>
        </p:nvSpPr>
        <p:spPr/>
        <p:txBody>
          <a:bodyPr/>
          <a:lstStyle/>
          <a:p>
            <a:r>
              <a:rPr sz="1200" b="0" i="0">
                <a:solidFill>
                  <a:srgbClr val="222222"/>
                </a:solidFill>
                <a:latin typeface="Calibri"/>
              </a:rPr>
              <a:t>LARS shows the order in which features enter the active set as the L1 budget grows. visitors_lag1 and visitors_lag12 enter early and stay; most Trends terms either enter late or never — visual proof of the redundancy story.</a:t>
            </a:r>
          </a:p>
          <a:p>
            <a:r>
              <a:rPr sz="1000" b="0" i="1">
                <a:solidFill>
                  <a:srgbClr val="8C8C8C"/>
                </a:solidFill>
                <a:latin typeface="Calibri"/>
              </a:rPr>
              <a:t>Source: museum-visitation-main (origin/main @ e3812a2)</a:t>
            </a:r>
          </a:p>
        </p:txBody>
      </p:sp>
      <p:sp>
        <p:nvSpPr>
          <p:cNvPr id="4" name="Slide Number Placeholder 3">
            <a:extLst>
              <a:ext uri="{FF2B5EF4-FFF2-40B4-BE49-F238E27FC236}">
                <a16:creationId xmlns:a16="http://schemas.microsoft.com/office/drawing/2014/main" id="{9D70C566-4F21-BBFF-53F2-B7D6661F5C1C}"/>
              </a:ext>
            </a:extLst>
          </p:cNvPr>
          <p:cNvSpPr>
            <a:spLocks noGrp="1"/>
          </p:cNvSpPr>
          <p:nvPr>
            <p:ph type="sldNum" sz="quarter" idx="5"/>
          </p:nvPr>
        </p:nvSpPr>
        <p:spPr/>
      </p:sp>
    </p:spTree>
    <p:extLst>
      <p:ext uri="{BB962C8B-B14F-4D97-AF65-F5344CB8AC3E}">
        <p14:creationId xmlns:p14="http://schemas.microsoft.com/office/powerpoint/2010/main" val="37207263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4148A-025F-828C-285A-7EA7FCEC2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35D16-F308-7CEF-1803-11BD415C6D2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6A82ABC-7E3E-277C-9E39-12EA28AD828A}"/>
              </a:ext>
            </a:extLst>
          </p:cNvPr>
          <p:cNvSpPr>
            <a:spLocks noGrp="1"/>
          </p:cNvSpPr>
          <p:nvPr>
            <p:ph type="body" sz="quarter" idx="3"/>
          </p:nvPr>
        </p:nvSpPr>
        <p:spPr/>
        <p:txBody>
          <a:bodyPr/>
          <a:lstStyle/>
          <a:p>
            <a:r>
              <a:rPr sz="1200" b="0" i="0">
                <a:solidFill>
                  <a:srgbClr val="222222"/>
                </a:solidFill>
                <a:latin typeface="Calibri"/>
              </a:rPr>
              <a:t>LARS shows the order in which features enter the active set as the L1 budget grows. visitors_lag1 and visitors_lag12 enter early and stay; most Trends terms either enter late or never — visual proof of the redundancy story.</a:t>
            </a:r>
          </a:p>
          <a:p>
            <a:r>
              <a:rPr sz="1000" b="0" i="1">
                <a:solidFill>
                  <a:srgbClr val="8C8C8C"/>
                </a:solidFill>
                <a:latin typeface="Calibri"/>
              </a:rPr>
              <a:t>Source: museum-visitation-main (origin/main @ e3812a2)</a:t>
            </a:r>
          </a:p>
        </p:txBody>
      </p:sp>
      <p:sp>
        <p:nvSpPr>
          <p:cNvPr id="4" name="Slide Number Placeholder 3">
            <a:extLst>
              <a:ext uri="{FF2B5EF4-FFF2-40B4-BE49-F238E27FC236}">
                <a16:creationId xmlns:a16="http://schemas.microsoft.com/office/drawing/2014/main" id="{85D0DAE7-1F07-943C-CEB7-8E192831E2B7}"/>
              </a:ext>
            </a:extLst>
          </p:cNvPr>
          <p:cNvSpPr>
            <a:spLocks noGrp="1"/>
          </p:cNvSpPr>
          <p:nvPr>
            <p:ph type="sldNum" sz="quarter" idx="5"/>
          </p:nvPr>
        </p:nvSpPr>
        <p:spPr/>
      </p:sp>
    </p:spTree>
    <p:extLst>
      <p:ext uri="{BB962C8B-B14F-4D97-AF65-F5344CB8AC3E}">
        <p14:creationId xmlns:p14="http://schemas.microsoft.com/office/powerpoint/2010/main" val="35169842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Points hugging the diagonal indicate strong fit. RMSE ≈ 2,982 visitors per month. Largest residuals concentrate in the COVID disruption window, which the model cannot anticipate.</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RF is a different family of model and still ranks visitors_lag12 at ~66% of total importance. Despite that, RF's R² (0.252) loses to LASSO-LARS (0.783) because the correlated predictor set hurts tree splits more than L1 regression.</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EB9E0-0D16-83C1-9E57-CB3FD21398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FCA26-8BC2-D305-C12F-218CF61A50D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8F803FB-92B5-0B2D-DC27-2CAA774471B0}"/>
              </a:ext>
            </a:extLst>
          </p:cNvPr>
          <p:cNvSpPr>
            <a:spLocks noGrp="1"/>
          </p:cNvSpPr>
          <p:nvPr>
            <p:ph type="body" sz="quarter" idx="3"/>
          </p:nvPr>
        </p:nvSpPr>
        <p:spPr/>
        <p:txBody>
          <a:bodyPr/>
          <a:lstStyle/>
          <a:p>
            <a:endParaRPr sz="1000" b="0" i="1" dirty="0">
              <a:solidFill>
                <a:srgbClr val="8C8C8C"/>
              </a:solidFill>
              <a:latin typeface="Calibri"/>
            </a:endParaRPr>
          </a:p>
        </p:txBody>
      </p:sp>
      <p:sp>
        <p:nvSpPr>
          <p:cNvPr id="4" name="Slide Number Placeholder 3">
            <a:extLst>
              <a:ext uri="{FF2B5EF4-FFF2-40B4-BE49-F238E27FC236}">
                <a16:creationId xmlns:a16="http://schemas.microsoft.com/office/drawing/2014/main" id="{1413CE9C-D5D2-9365-6AE3-7FD379E478D9}"/>
              </a:ext>
            </a:extLst>
          </p:cNvPr>
          <p:cNvSpPr>
            <a:spLocks noGrp="1"/>
          </p:cNvSpPr>
          <p:nvPr>
            <p:ph type="sldNum" sz="quarter" idx="5"/>
          </p:nvPr>
        </p:nvSpPr>
        <p:spPr/>
      </p:sp>
    </p:spTree>
    <p:extLst>
      <p:ext uri="{BB962C8B-B14F-4D97-AF65-F5344CB8AC3E}">
        <p14:creationId xmlns:p14="http://schemas.microsoft.com/office/powerpoint/2010/main" val="6082999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24B1D-C088-933A-DFA3-2D5237F98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3906F-6FFD-87DD-E726-9802E0274A0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D53CCB5-77F1-7AAA-CD56-EA03B9A71FE1}"/>
              </a:ext>
            </a:extLst>
          </p:cNvPr>
          <p:cNvSpPr>
            <a:spLocks noGrp="1"/>
          </p:cNvSpPr>
          <p:nvPr>
            <p:ph type="body" sz="quarter" idx="3"/>
          </p:nvPr>
        </p:nvSpPr>
        <p:spPr/>
        <p:txBody>
          <a:bodyPr/>
          <a:lstStyle/>
          <a:p>
            <a:endParaRPr sz="1000" b="0" i="1" dirty="0">
              <a:solidFill>
                <a:srgbClr val="8C8C8C"/>
              </a:solidFill>
              <a:latin typeface="Calibri"/>
            </a:endParaRPr>
          </a:p>
        </p:txBody>
      </p:sp>
      <p:sp>
        <p:nvSpPr>
          <p:cNvPr id="4" name="Slide Number Placeholder 3">
            <a:extLst>
              <a:ext uri="{FF2B5EF4-FFF2-40B4-BE49-F238E27FC236}">
                <a16:creationId xmlns:a16="http://schemas.microsoft.com/office/drawing/2014/main" id="{70121674-866B-EDD6-C53A-E6DA968CB019}"/>
              </a:ext>
            </a:extLst>
          </p:cNvPr>
          <p:cNvSpPr>
            <a:spLocks noGrp="1"/>
          </p:cNvSpPr>
          <p:nvPr>
            <p:ph type="sldNum" sz="quarter" idx="5"/>
          </p:nvPr>
        </p:nvSpPr>
        <p:spPr/>
      </p:sp>
    </p:spTree>
    <p:extLst>
      <p:ext uri="{BB962C8B-B14F-4D97-AF65-F5344CB8AC3E}">
        <p14:creationId xmlns:p14="http://schemas.microsoft.com/office/powerpoint/2010/main" val="16668547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517FA-6312-0DF3-2CE0-CDD5E67B1F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AB71A1-9BCE-CD01-930C-1D282BC128B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BCC17F2-2D6C-8759-E5FE-6071B0899929}"/>
              </a:ext>
            </a:extLst>
          </p:cNvPr>
          <p:cNvSpPr>
            <a:spLocks noGrp="1"/>
          </p:cNvSpPr>
          <p:nvPr>
            <p:ph type="body" sz="quarter" idx="3"/>
          </p:nvPr>
        </p:nvSpPr>
        <p:spPr/>
        <p:txBody>
          <a:bodyPr/>
          <a:lstStyle/>
          <a:p>
            <a:endParaRPr sz="1000" b="0" i="1" dirty="0">
              <a:solidFill>
                <a:srgbClr val="8C8C8C"/>
              </a:solidFill>
              <a:latin typeface="Calibri"/>
            </a:endParaRPr>
          </a:p>
        </p:txBody>
      </p:sp>
      <p:sp>
        <p:nvSpPr>
          <p:cNvPr id="4" name="Slide Number Placeholder 3">
            <a:extLst>
              <a:ext uri="{FF2B5EF4-FFF2-40B4-BE49-F238E27FC236}">
                <a16:creationId xmlns:a16="http://schemas.microsoft.com/office/drawing/2014/main" id="{AC2A48BB-B974-0286-8245-E0BA6A99CBBB}"/>
              </a:ext>
            </a:extLst>
          </p:cNvPr>
          <p:cNvSpPr>
            <a:spLocks noGrp="1"/>
          </p:cNvSpPr>
          <p:nvPr>
            <p:ph type="sldNum" sz="quarter" idx="5"/>
          </p:nvPr>
        </p:nvSpPr>
        <p:spPr/>
      </p:sp>
    </p:spTree>
    <p:extLst>
      <p:ext uri="{BB962C8B-B14F-4D97-AF65-F5344CB8AC3E}">
        <p14:creationId xmlns:p14="http://schemas.microsoft.com/office/powerpoint/2010/main" val="21004786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24735-0D10-71EB-8064-3957747CBF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CC9C06-EBC7-7BFF-15E5-AAACAE3CE42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4FE780A-9F4D-1280-A2A0-60FB88F2CFB5}"/>
              </a:ext>
            </a:extLst>
          </p:cNvPr>
          <p:cNvSpPr>
            <a:spLocks noGrp="1"/>
          </p:cNvSpPr>
          <p:nvPr>
            <p:ph type="body" sz="quarter" idx="3"/>
          </p:nvPr>
        </p:nvSpPr>
        <p:spPr/>
        <p:txBody>
          <a:bodyPr/>
          <a:lstStyle/>
          <a:p>
            <a:endParaRPr sz="1000" b="0" i="1" dirty="0">
              <a:solidFill>
                <a:srgbClr val="8C8C8C"/>
              </a:solidFill>
              <a:latin typeface="Calibri"/>
            </a:endParaRPr>
          </a:p>
        </p:txBody>
      </p:sp>
      <p:sp>
        <p:nvSpPr>
          <p:cNvPr id="4" name="Slide Number Placeholder 3">
            <a:extLst>
              <a:ext uri="{FF2B5EF4-FFF2-40B4-BE49-F238E27FC236}">
                <a16:creationId xmlns:a16="http://schemas.microsoft.com/office/drawing/2014/main" id="{3222C38D-AD85-274D-9C21-89A1E90DEAF5}"/>
              </a:ext>
            </a:extLst>
          </p:cNvPr>
          <p:cNvSpPr>
            <a:spLocks noGrp="1"/>
          </p:cNvSpPr>
          <p:nvPr>
            <p:ph type="sldNum" sz="quarter" idx="5"/>
          </p:nvPr>
        </p:nvSpPr>
        <p:spPr/>
      </p:sp>
    </p:spTree>
    <p:extLst>
      <p:ext uri="{BB962C8B-B14F-4D97-AF65-F5344CB8AC3E}">
        <p14:creationId xmlns:p14="http://schemas.microsoft.com/office/powerpoint/2010/main" val="18060982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If you only remember three things: (1) lag features are king, (2) weather and Google Trends were directionally useful but minor, (3) Lasso models won because the predictor set was redundant.</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CF66C-E73E-592E-760A-8A4C0F389C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792AF1-5902-E32D-5BA8-B6C4C9446B9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7D8DF2D-A3DC-53ED-7D9F-0CED0F577535}"/>
              </a:ext>
            </a:extLst>
          </p:cNvPr>
          <p:cNvSpPr>
            <a:spLocks noGrp="1"/>
          </p:cNvSpPr>
          <p:nvPr>
            <p:ph type="body" sz="quarter" idx="3"/>
          </p:nvPr>
        </p:nvSpPr>
        <p:spPr/>
        <p:txBody>
          <a:bodyPr/>
          <a:lstStyle/>
          <a:p>
            <a:r>
              <a:rPr sz="1200" b="0" i="0">
                <a:solidFill>
                  <a:srgbClr val="222222"/>
                </a:solidFill>
                <a:latin typeface="Calibri"/>
              </a:rPr>
              <a:t>If you only remember three things: (1) lag features are king, (2) weather and Google Trends were directionally useful but minor, (3) Lasso models won because the predictor set was redundant.</a:t>
            </a:r>
          </a:p>
          <a:p>
            <a:r>
              <a:rPr sz="1000" b="0" i="1">
                <a:solidFill>
                  <a:srgbClr val="8C8C8C"/>
                </a:solidFill>
                <a:latin typeface="Calibri"/>
              </a:rPr>
              <a:t>Source: museum-visitation-main (origin/main @ e3812a2)</a:t>
            </a:r>
          </a:p>
        </p:txBody>
      </p:sp>
      <p:sp>
        <p:nvSpPr>
          <p:cNvPr id="4" name="Slide Number Placeholder 3">
            <a:extLst>
              <a:ext uri="{FF2B5EF4-FFF2-40B4-BE49-F238E27FC236}">
                <a16:creationId xmlns:a16="http://schemas.microsoft.com/office/drawing/2014/main" id="{83DD7B0B-30C2-6640-A221-FF95A8DA50D6}"/>
              </a:ext>
            </a:extLst>
          </p:cNvPr>
          <p:cNvSpPr>
            <a:spLocks noGrp="1"/>
          </p:cNvSpPr>
          <p:nvPr>
            <p:ph type="sldNum" sz="quarter" idx="5"/>
          </p:nvPr>
        </p:nvSpPr>
        <p:spPr/>
      </p:sp>
    </p:spTree>
    <p:extLst>
      <p:ext uri="{BB962C8B-B14F-4D97-AF65-F5344CB8AC3E}">
        <p14:creationId xmlns:p14="http://schemas.microsoft.com/office/powerpoint/2010/main" val="37875220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85E66-E2F4-95B9-C856-B3FE30F824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77E36C-0BA0-CDF9-48CD-7E0DC33D7E3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84A5A54-0DA5-B614-45E0-75585A58620B}"/>
              </a:ext>
            </a:extLst>
          </p:cNvPr>
          <p:cNvSpPr>
            <a:spLocks noGrp="1"/>
          </p:cNvSpPr>
          <p:nvPr>
            <p:ph type="body" sz="quarter" idx="3"/>
          </p:nvPr>
        </p:nvSpPr>
        <p:spPr/>
        <p:txBody>
          <a:bodyPr/>
          <a:lstStyle/>
          <a:p>
            <a:r>
              <a:rPr sz="1200" b="0" i="0">
                <a:solidFill>
                  <a:srgbClr val="222222"/>
                </a:solidFill>
                <a:latin typeface="Calibri"/>
              </a:rPr>
              <a:t>If you only remember three things: (1) lag features are king, (2) weather and Google Trends were directionally useful but minor, (3) Lasso models won because the predictor set was redundant.</a:t>
            </a:r>
          </a:p>
          <a:p>
            <a:r>
              <a:rPr sz="1000" b="0" i="1">
                <a:solidFill>
                  <a:srgbClr val="8C8C8C"/>
                </a:solidFill>
                <a:latin typeface="Calibri"/>
              </a:rPr>
              <a:t>Source: museum-visitation-main (origin/main @ e3812a2)</a:t>
            </a:r>
          </a:p>
        </p:txBody>
      </p:sp>
      <p:sp>
        <p:nvSpPr>
          <p:cNvPr id="4" name="Slide Number Placeholder 3">
            <a:extLst>
              <a:ext uri="{FF2B5EF4-FFF2-40B4-BE49-F238E27FC236}">
                <a16:creationId xmlns:a16="http://schemas.microsoft.com/office/drawing/2014/main" id="{E1D5640D-8909-3BEC-ACD1-5A96C503FB02}"/>
              </a:ext>
            </a:extLst>
          </p:cNvPr>
          <p:cNvSpPr>
            <a:spLocks noGrp="1"/>
          </p:cNvSpPr>
          <p:nvPr>
            <p:ph type="sldNum" sz="quarter" idx="5"/>
          </p:nvPr>
        </p:nvSpPr>
        <p:spPr/>
      </p:sp>
    </p:spTree>
    <p:extLst>
      <p:ext uri="{BB962C8B-B14F-4D97-AF65-F5344CB8AC3E}">
        <p14:creationId xmlns:p14="http://schemas.microsoft.com/office/powerpoint/2010/main" val="15683754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Acknowledge the data is small and LA-only. The model is a proof of concept that a multi-source monthly forecast can beat a naive baseline; scaling it requires more sites and finer time resolution.</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Lead with 'expand to other states' and 'collect more data' per the team's guidance — those two are the highest-leverage next steps.</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b="0" i="0">
                <a:solidFill>
                  <a:srgbClr val="222222"/>
                </a:solidFill>
                <a:latin typeface="Calibri"/>
              </a:rPr>
              <a:t>Open the floor for questions. Be ready to dive into the model comparison table, the lag-feature dominance, or the Google Trends versioning workflow.</a:t>
            </a:r>
          </a:p>
          <a:p>
            <a:r>
              <a:rPr sz="1000" b="0" i="1">
                <a:solidFill>
                  <a:srgbClr val="8C8C8C"/>
                </a:solidFill>
                <a:latin typeface="Calibri"/>
              </a:rPr>
              <a:t>Source: museum-visitation-main (origin/main @ e3812a2)</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194560"/>
            <a:ext cx="12191695" cy="246888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468880"/>
            <a:ext cx="7732181" cy="784830"/>
          </a:xfrm>
          <a:prstGeom prst="rect">
            <a:avLst/>
          </a:prstGeom>
          <a:noFill/>
        </p:spPr>
        <p:txBody>
          <a:bodyPr wrap="none" lIns="91440" tIns="0" rIns="91440" bIns="45720" anchor="t">
            <a:spAutoFit/>
          </a:bodyPr>
          <a:lstStyle/>
          <a:p>
            <a:pPr algn="l"/>
            <a:r>
              <a:rPr sz="4800" b="1" i="0">
                <a:solidFill>
                  <a:srgbClr val="FFFFFF"/>
                </a:solidFill>
                <a:latin typeface="Calibri"/>
              </a:rPr>
              <a:t>Predicting Museum Visitation</a:t>
            </a:r>
          </a:p>
        </p:txBody>
      </p:sp>
      <p:sp>
        <p:nvSpPr>
          <p:cNvPr id="5" name="TextBox 4"/>
          <p:cNvSpPr txBox="1"/>
          <p:nvPr/>
        </p:nvSpPr>
        <p:spPr>
          <a:xfrm>
            <a:off x="731520" y="3657600"/>
            <a:ext cx="9451946" cy="400110"/>
          </a:xfrm>
          <a:prstGeom prst="rect">
            <a:avLst/>
          </a:prstGeom>
          <a:noFill/>
        </p:spPr>
        <p:txBody>
          <a:bodyPr wrap="none" lIns="91440" tIns="45720" rIns="91440" bIns="45720" anchor="t">
            <a:spAutoFit/>
          </a:bodyPr>
          <a:lstStyle/>
          <a:p>
            <a:r>
              <a:rPr sz="2000" b="0" i="1">
                <a:solidFill>
                  <a:srgbClr val="FFFFFF"/>
                </a:solidFill>
                <a:latin typeface="Calibri"/>
              </a:rPr>
              <a:t>A multi-source forecasting study using weather, Google Trends, calendar, and lag features</a:t>
            </a:r>
          </a:p>
        </p:txBody>
      </p:sp>
      <p:sp>
        <p:nvSpPr>
          <p:cNvPr id="6" name="TextBox 5"/>
          <p:cNvSpPr txBox="1"/>
          <p:nvPr/>
        </p:nvSpPr>
        <p:spPr>
          <a:xfrm>
            <a:off x="731520" y="4937760"/>
            <a:ext cx="10698480" cy="656590"/>
          </a:xfrm>
          <a:prstGeom prst="rect">
            <a:avLst/>
          </a:prstGeom>
          <a:noFill/>
        </p:spPr>
        <p:txBody>
          <a:bodyPr wrap="square" lIns="91440" tIns="45720" rIns="91440" bIns="45720" anchor="t">
            <a:spAutoFit/>
          </a:bodyPr>
          <a:lstStyle/>
          <a:p>
            <a:r>
              <a:rPr sz="1600" b="0" i="0">
                <a:solidFill>
                  <a:srgbClr val="222222"/>
                </a:solidFill>
                <a:latin typeface="Calibri"/>
              </a:rPr>
              <a:t>Chandu </a:t>
            </a:r>
            <a:r>
              <a:rPr sz="1600" b="0" i="0" err="1">
                <a:solidFill>
                  <a:srgbClr val="222222"/>
                </a:solidFill>
                <a:latin typeface="Calibri"/>
              </a:rPr>
              <a:t>Esukula</a:t>
            </a:r>
            <a:r>
              <a:rPr sz="1600" b="0" i="0">
                <a:solidFill>
                  <a:srgbClr val="222222"/>
                </a:solidFill>
                <a:latin typeface="Calibri"/>
              </a:rPr>
              <a:t>  ·  </a:t>
            </a:r>
            <a:r>
              <a:rPr lang="en-US" sz="1600" err="1">
                <a:solidFill>
                  <a:srgbClr val="222222"/>
                </a:solidFill>
                <a:latin typeface="Calibri"/>
              </a:rPr>
              <a:t>Pachee</a:t>
            </a:r>
            <a:r>
              <a:rPr sz="1600" b="0" i="0">
                <a:solidFill>
                  <a:srgbClr val="222222"/>
                </a:solidFill>
                <a:latin typeface="Calibri"/>
              </a:rPr>
              <a:t> Greenaway  ·  </a:t>
            </a:r>
            <a:r>
              <a:rPr lang="en-US" sz="1600">
                <a:solidFill>
                  <a:srgbClr val="222222"/>
                </a:solidFill>
                <a:latin typeface="Calibri"/>
              </a:rPr>
              <a:t>Andrew</a:t>
            </a:r>
            <a:r>
              <a:rPr sz="1600" b="0" i="0">
                <a:solidFill>
                  <a:srgbClr val="222222"/>
                </a:solidFill>
                <a:latin typeface="Calibri"/>
              </a:rPr>
              <a:t> Miller  ·  Tray Pescosolido  ·  </a:t>
            </a:r>
            <a:r>
              <a:rPr sz="1600" b="0" i="0" err="1">
                <a:solidFill>
                  <a:srgbClr val="222222"/>
                </a:solidFill>
                <a:latin typeface="Calibri"/>
              </a:rPr>
              <a:t>Glorien</a:t>
            </a:r>
            <a:r>
              <a:rPr sz="1600" b="0" i="0">
                <a:solidFill>
                  <a:srgbClr val="222222"/>
                </a:solidFill>
                <a:latin typeface="Calibri"/>
              </a:rPr>
              <a:t> Roque  ·  Stacy Smith</a:t>
            </a:r>
          </a:p>
          <a:p>
            <a:pPr>
              <a:spcBef>
                <a:spcPts val="800"/>
              </a:spcBef>
            </a:pPr>
            <a:r>
              <a:rPr sz="1400" b="0" i="1">
                <a:solidFill>
                  <a:srgbClr val="555555"/>
                </a:solidFill>
                <a:latin typeface="Calibri"/>
              </a:rPr>
              <a:t>Machine Learning  ·  SEIS 763-02  ·  April 28,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Project Goal</a:t>
            </a:r>
          </a:p>
          <a:p>
            <a:pPr algn="l">
              <a:spcBef>
                <a:spcPts val="200"/>
              </a:spcBef>
            </a:pPr>
            <a:r>
              <a:rPr sz="1600" b="0" i="1">
                <a:solidFill>
                  <a:srgbClr val="555555"/>
                </a:solidFill>
                <a:latin typeface="Calibri"/>
              </a:rPr>
              <a:t>Why forecast monthly museum visitation?</a:t>
            </a:r>
            <a:endParaRPr sz="1600" b="0" i="1">
              <a:solidFill>
                <a:srgbClr val="555555"/>
              </a:solidFill>
              <a:latin typeface="Calibri"/>
              <a:ea typeface="Calibri"/>
              <a:cs typeface="Calibri"/>
            </a:endParaRP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25880"/>
            <a:ext cx="11155680" cy="3113929"/>
          </a:xfrm>
          <a:prstGeom prst="rect">
            <a:avLst/>
          </a:prstGeom>
          <a:noFill/>
        </p:spPr>
        <p:txBody>
          <a:bodyPr wrap="square" lIns="45720" tIns="45720" rIns="45720" bIns="45720" anchor="t">
            <a:spAutoFit/>
          </a:bodyPr>
          <a:lstStyle/>
          <a:p>
            <a:pPr>
              <a:lnSpc>
                <a:spcPct val="118000"/>
              </a:lnSpc>
              <a:spcAft>
                <a:spcPts val="400"/>
              </a:spcAft>
            </a:pPr>
            <a:r>
              <a:rPr sz="2000" b="1" i="0">
                <a:solidFill>
                  <a:srgbClr val="1F497D"/>
                </a:solidFill>
                <a:latin typeface="Calibri"/>
              </a:rPr>
              <a:t>•  </a:t>
            </a:r>
            <a:r>
              <a:rPr sz="2000" b="0" i="0">
                <a:solidFill>
                  <a:srgbClr val="222222"/>
                </a:solidFill>
                <a:latin typeface="Calibri"/>
              </a:rPr>
              <a:t>Supports staffing and operational planning</a:t>
            </a:r>
          </a:p>
          <a:p>
            <a:pPr lvl="1">
              <a:lnSpc>
                <a:spcPct val="118000"/>
              </a:lnSpc>
              <a:spcAft>
                <a:spcPts val="200"/>
              </a:spcAft>
            </a:pPr>
            <a:r>
              <a:rPr b="0" i="0">
                <a:solidFill>
                  <a:srgbClr val="555555"/>
                </a:solidFill>
                <a:latin typeface="Calibri"/>
              </a:rPr>
              <a:t>–  Right-size docents, security, ticketing, and gift-shop coverage</a:t>
            </a:r>
            <a:endParaRPr b="0" i="0">
              <a:solidFill>
                <a:srgbClr val="555555"/>
              </a:solidFill>
              <a:latin typeface="Calibri"/>
              <a:ea typeface="Calibri"/>
              <a:cs typeface="Calibri"/>
            </a:endParaRPr>
          </a:p>
          <a:p>
            <a:pPr>
              <a:lnSpc>
                <a:spcPct val="118000"/>
              </a:lnSpc>
              <a:spcAft>
                <a:spcPts val="400"/>
              </a:spcAft>
            </a:pPr>
            <a:r>
              <a:rPr sz="2000" b="1" i="0">
                <a:solidFill>
                  <a:srgbClr val="1F497D"/>
                </a:solidFill>
                <a:latin typeface="Calibri"/>
              </a:rPr>
              <a:t>•  </a:t>
            </a:r>
            <a:r>
              <a:rPr sz="2000" b="0" i="0">
                <a:solidFill>
                  <a:srgbClr val="222222"/>
                </a:solidFill>
                <a:latin typeface="Calibri"/>
              </a:rPr>
              <a:t>Improves marketing timing</a:t>
            </a:r>
          </a:p>
          <a:p>
            <a:pPr lvl="1">
              <a:lnSpc>
                <a:spcPct val="118000"/>
              </a:lnSpc>
              <a:spcAft>
                <a:spcPts val="200"/>
              </a:spcAft>
            </a:pPr>
            <a:r>
              <a:rPr b="0" i="0">
                <a:solidFill>
                  <a:srgbClr val="555555"/>
                </a:solidFill>
                <a:latin typeface="Calibri"/>
              </a:rPr>
              <a:t>–  Push campaigns ahead of search-interest peaks, not after them</a:t>
            </a:r>
            <a:endParaRPr b="0" i="0">
              <a:solidFill>
                <a:srgbClr val="555555"/>
              </a:solidFill>
              <a:latin typeface="Calibri"/>
              <a:ea typeface="Calibri"/>
              <a:cs typeface="Calibri"/>
            </a:endParaRPr>
          </a:p>
          <a:p>
            <a:pPr>
              <a:lnSpc>
                <a:spcPct val="118000"/>
              </a:lnSpc>
              <a:spcAft>
                <a:spcPts val="400"/>
              </a:spcAft>
            </a:pPr>
            <a:r>
              <a:rPr sz="2000" b="1" i="0">
                <a:solidFill>
                  <a:srgbClr val="1F497D"/>
                </a:solidFill>
                <a:latin typeface="Calibri"/>
              </a:rPr>
              <a:t>•  </a:t>
            </a:r>
            <a:r>
              <a:rPr sz="2000" b="0" i="0">
                <a:solidFill>
                  <a:srgbClr val="222222"/>
                </a:solidFill>
                <a:latin typeface="Calibri"/>
              </a:rPr>
              <a:t>Identifies demand patterns</a:t>
            </a:r>
          </a:p>
          <a:p>
            <a:pPr lvl="1">
              <a:lnSpc>
                <a:spcPct val="118000"/>
              </a:lnSpc>
              <a:spcAft>
                <a:spcPts val="200"/>
              </a:spcAft>
            </a:pPr>
            <a:r>
              <a:rPr b="0" i="0">
                <a:solidFill>
                  <a:srgbClr val="555555"/>
                </a:solidFill>
                <a:latin typeface="Calibri"/>
              </a:rPr>
              <a:t>–  Quantify seasonality, holiday lifts, and post-COVID recovery</a:t>
            </a:r>
            <a:endParaRPr b="0" i="0">
              <a:solidFill>
                <a:srgbClr val="555555"/>
              </a:solidFill>
              <a:latin typeface="Calibri"/>
              <a:ea typeface="Calibri"/>
              <a:cs typeface="Calibri"/>
            </a:endParaRPr>
          </a:p>
          <a:p>
            <a:pPr>
              <a:lnSpc>
                <a:spcPct val="118000"/>
              </a:lnSpc>
              <a:spcAft>
                <a:spcPts val="400"/>
              </a:spcAft>
            </a:pPr>
            <a:r>
              <a:rPr sz="2000" b="1" i="0">
                <a:solidFill>
                  <a:srgbClr val="1F497D"/>
                </a:solidFill>
                <a:latin typeface="Calibri"/>
              </a:rPr>
              <a:t>•  </a:t>
            </a:r>
            <a:r>
              <a:rPr sz="2000" b="0" i="0">
                <a:solidFill>
                  <a:srgbClr val="222222"/>
                </a:solidFill>
                <a:latin typeface="Calibri"/>
              </a:rPr>
              <a:t>Reduces uncertainty for executive planning</a:t>
            </a:r>
          </a:p>
          <a:p>
            <a:pPr lvl="1">
              <a:lnSpc>
                <a:spcPct val="118000"/>
              </a:lnSpc>
              <a:spcAft>
                <a:spcPts val="200"/>
              </a:spcAft>
            </a:pPr>
            <a:r>
              <a:rPr b="0" i="0">
                <a:solidFill>
                  <a:srgbClr val="555555"/>
                </a:solidFill>
                <a:latin typeface="Calibri"/>
              </a:rPr>
              <a:t>–  Replace gut estimates with a model that reports its own error bars</a:t>
            </a:r>
            <a:endParaRPr b="0" i="0">
              <a:solidFill>
                <a:srgbClr val="555555"/>
              </a:solidFill>
              <a:latin typeface="Calibri"/>
              <a:ea typeface="Calibri"/>
              <a:cs typeface="Calibri"/>
            </a:endParaRPr>
          </a:p>
        </p:txBody>
      </p:sp>
      <p:sp>
        <p:nvSpPr>
          <p:cNvPr id="6" name="TextBox 5"/>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8" name="TextBox 7">
            <a:extLst>
              <a:ext uri="{FF2B5EF4-FFF2-40B4-BE49-F238E27FC236}">
                <a16:creationId xmlns:a16="http://schemas.microsoft.com/office/drawing/2014/main" id="{26F2D34A-F5E0-86A4-28E5-9883B277ABC2}"/>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What We Set Out to Answer</a:t>
            </a:r>
          </a:p>
          <a:p>
            <a:pPr algn="l">
              <a:spcBef>
                <a:spcPts val="200"/>
              </a:spcBef>
            </a:pPr>
            <a:r>
              <a:rPr sz="1600" b="0" i="1">
                <a:solidFill>
                  <a:srgbClr val="555555"/>
                </a:solidFill>
                <a:latin typeface="Calibri"/>
              </a:rPr>
              <a:t>Forecasting questions + how Google Trends fits in</a:t>
            </a:r>
            <a:endParaRPr sz="1600" b="0" i="1">
              <a:solidFill>
                <a:srgbClr val="555555"/>
              </a:solidFill>
              <a:latin typeface="Calibri"/>
              <a:ea typeface="Calibri"/>
              <a:cs typeface="Calibri"/>
            </a:endParaRP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25880"/>
            <a:ext cx="2519023" cy="415498"/>
          </a:xfrm>
          <a:prstGeom prst="rect">
            <a:avLst/>
          </a:prstGeom>
          <a:noFill/>
        </p:spPr>
        <p:txBody>
          <a:bodyPr wrap="none" lIns="45720" tIns="0" rIns="91440" bIns="45720" anchor="t">
            <a:spAutoFit/>
          </a:bodyPr>
          <a:lstStyle/>
          <a:p>
            <a:r>
              <a:rPr sz="2400" b="1" i="0">
                <a:solidFill>
                  <a:srgbClr val="1F497D"/>
                </a:solidFill>
                <a:latin typeface="Calibri"/>
              </a:rPr>
              <a:t>Forecast questions</a:t>
            </a:r>
          </a:p>
        </p:txBody>
      </p:sp>
      <p:sp>
        <p:nvSpPr>
          <p:cNvPr id="6" name="TextBox 5"/>
          <p:cNvSpPr txBox="1"/>
          <p:nvPr/>
        </p:nvSpPr>
        <p:spPr>
          <a:xfrm>
            <a:off x="502920" y="1783080"/>
            <a:ext cx="5440680" cy="2363724"/>
          </a:xfrm>
          <a:prstGeom prst="rect">
            <a:avLst/>
          </a:prstGeom>
          <a:noFill/>
        </p:spPr>
        <p:txBody>
          <a:bodyPr wrap="square" lIns="45720" tIns="45720" rIns="91440" bIns="45720" anchor="t">
            <a:spAutoFit/>
          </a:bodyPr>
          <a:lstStyle/>
          <a:p>
            <a:pPr>
              <a:lnSpc>
                <a:spcPct val="118000"/>
              </a:lnSpc>
              <a:spcAft>
                <a:spcPts val="300"/>
              </a:spcAft>
            </a:pPr>
            <a:r>
              <a:rPr sz="2000" b="1" i="0">
                <a:solidFill>
                  <a:srgbClr val="1F497D"/>
                </a:solidFill>
                <a:latin typeface="Calibri"/>
              </a:rPr>
              <a:t>•  </a:t>
            </a:r>
            <a:r>
              <a:rPr sz="2000" b="0" i="0">
                <a:solidFill>
                  <a:srgbClr val="222222"/>
                </a:solidFill>
                <a:latin typeface="Calibri"/>
              </a:rPr>
              <a:t>How many visitors should we expect next month?</a:t>
            </a:r>
            <a:endParaRPr lang="en-US" sz="2000" b="0" i="0">
              <a:solidFill>
                <a:srgbClr val="222222"/>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a:solidFill>
                  <a:srgbClr val="222222"/>
                </a:solidFill>
                <a:latin typeface="Calibri"/>
              </a:rPr>
              <a:t>How much does weather influence attendance?</a:t>
            </a:r>
            <a:endParaRPr sz="2000" b="0" i="0">
              <a:solidFill>
                <a:srgbClr val="222222"/>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a:solidFill>
                  <a:srgbClr val="222222"/>
                </a:solidFill>
                <a:latin typeface="Calibri"/>
              </a:rPr>
              <a:t>Which search themes track real visitation?</a:t>
            </a:r>
            <a:endParaRPr sz="2000" b="0" i="0">
              <a:solidFill>
                <a:srgbClr val="222222"/>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a:solidFill>
                  <a:srgbClr val="222222"/>
                </a:solidFill>
                <a:latin typeface="Calibri"/>
              </a:rPr>
              <a:t>When should marketing campaigns launch to maximize lift?</a:t>
            </a:r>
            <a:endParaRPr sz="2000" b="0" i="0">
              <a:solidFill>
                <a:srgbClr val="222222"/>
              </a:solidFill>
              <a:latin typeface="Calibri"/>
              <a:ea typeface="Calibri"/>
              <a:cs typeface="Calibri"/>
            </a:endParaRPr>
          </a:p>
        </p:txBody>
      </p:sp>
      <p:sp>
        <p:nvSpPr>
          <p:cNvPr id="7" name="TextBox 6"/>
          <p:cNvSpPr txBox="1"/>
          <p:nvPr/>
        </p:nvSpPr>
        <p:spPr>
          <a:xfrm>
            <a:off x="6217920" y="1325880"/>
            <a:ext cx="3228641" cy="415498"/>
          </a:xfrm>
          <a:prstGeom prst="rect">
            <a:avLst/>
          </a:prstGeom>
          <a:noFill/>
        </p:spPr>
        <p:txBody>
          <a:bodyPr wrap="none" lIns="45720" tIns="0" rIns="91440" bIns="45720" anchor="t">
            <a:spAutoFit/>
          </a:bodyPr>
          <a:lstStyle/>
          <a:p>
            <a:r>
              <a:rPr sz="2400" b="1" i="0">
                <a:solidFill>
                  <a:srgbClr val="1F497D"/>
                </a:solidFill>
                <a:latin typeface="Calibri"/>
              </a:rPr>
              <a:t>How we use search data</a:t>
            </a:r>
          </a:p>
        </p:txBody>
      </p:sp>
      <p:sp>
        <p:nvSpPr>
          <p:cNvPr id="8" name="TextBox 7"/>
          <p:cNvSpPr txBox="1"/>
          <p:nvPr/>
        </p:nvSpPr>
        <p:spPr>
          <a:xfrm>
            <a:off x="6217920" y="1783080"/>
            <a:ext cx="5440680" cy="3090077"/>
          </a:xfrm>
          <a:prstGeom prst="rect">
            <a:avLst/>
          </a:prstGeom>
          <a:noFill/>
        </p:spPr>
        <p:txBody>
          <a:bodyPr wrap="square" lIns="45720" tIns="45720" rIns="91440" bIns="45720" anchor="t">
            <a:spAutoFit/>
          </a:bodyPr>
          <a:lstStyle/>
          <a:p>
            <a:pPr>
              <a:lnSpc>
                <a:spcPct val="118000"/>
              </a:lnSpc>
              <a:spcAft>
                <a:spcPts val="300"/>
              </a:spcAft>
            </a:pPr>
            <a:r>
              <a:rPr sz="2000" b="1" i="0">
                <a:solidFill>
                  <a:srgbClr val="1F497D"/>
                </a:solidFill>
                <a:latin typeface="Calibri"/>
              </a:rPr>
              <a:t>•  </a:t>
            </a:r>
            <a:r>
              <a:rPr sz="2000" b="0" i="0">
                <a:solidFill>
                  <a:srgbClr val="222222"/>
                </a:solidFill>
                <a:latin typeface="Calibri"/>
              </a:rPr>
              <a:t>Pull monthly Google Trends interest (0–100) for tourism, museum, and activity terms</a:t>
            </a:r>
            <a:endParaRPr lang="en-US" sz="2000" b="0" i="0">
              <a:solidFill>
                <a:srgbClr val="222222"/>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a:solidFill>
                  <a:srgbClr val="222222"/>
                </a:solidFill>
                <a:latin typeface="Calibri"/>
              </a:rPr>
              <a:t>Treat search interest as a leading proxy for visit intent</a:t>
            </a:r>
            <a:endParaRPr sz="2000" b="0" i="0">
              <a:solidFill>
                <a:srgbClr val="222222"/>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a:solidFill>
                  <a:srgbClr val="222222"/>
                </a:solidFill>
                <a:latin typeface="Calibri"/>
              </a:rPr>
              <a:t>Benchmark Avila Adobe against Getty, Griffith, La Brea Tar Pits</a:t>
            </a:r>
            <a:endParaRPr sz="2000" b="0" i="0">
              <a:solidFill>
                <a:srgbClr val="222222"/>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a:solidFill>
                  <a:srgbClr val="222222"/>
                </a:solidFill>
                <a:latin typeface="Calibri"/>
              </a:rPr>
              <a:t>Higher search interest → historically more visits in the same month</a:t>
            </a:r>
            <a:endParaRPr sz="2000" b="0" i="0">
              <a:solidFill>
                <a:srgbClr val="222222"/>
              </a:solidFill>
              <a:latin typeface="Calibri"/>
              <a:ea typeface="Calibri"/>
              <a:cs typeface="Calibri"/>
            </a:endParaRPr>
          </a:p>
        </p:txBody>
      </p:sp>
      <p:sp>
        <p:nvSpPr>
          <p:cNvPr id="9" name="TextBox 8"/>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4" name="TextBox 13">
            <a:extLst>
              <a:ext uri="{FF2B5EF4-FFF2-40B4-BE49-F238E27FC236}">
                <a16:creationId xmlns:a16="http://schemas.microsoft.com/office/drawing/2014/main" id="{796B09CC-8A56-3B7D-D842-CC56A87F8517}"/>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Data Sources</a:t>
            </a:r>
          </a:p>
          <a:p>
            <a:pPr algn="l">
              <a:spcBef>
                <a:spcPts val="200"/>
              </a:spcBef>
            </a:pPr>
            <a:r>
              <a:rPr sz="1600" b="0" i="1">
                <a:solidFill>
                  <a:srgbClr val="555555"/>
                </a:solidFill>
                <a:latin typeface="Calibri"/>
              </a:rPr>
              <a:t>Four monthly streams merged on the YYYY-MM key</a:t>
            </a:r>
            <a:endParaRPr sz="1600" b="0" i="1">
              <a:solidFill>
                <a:srgbClr val="555555"/>
              </a:solidFill>
              <a:latin typeface="Calibri"/>
              <a:ea typeface="Calibri"/>
              <a:cs typeface="Calibri"/>
            </a:endParaRP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95147" y="1828800"/>
            <a:ext cx="2697480" cy="2377440"/>
          </a:xfrm>
          <a:prstGeom prst="roundRect">
            <a:avLst>
              <a:gd name="adj" fmla="val 5000"/>
            </a:avLst>
          </a:prstGeom>
          <a:solidFill>
            <a:srgbClr val="F6F8FB"/>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l"/>
            <a:r>
              <a:rPr sz="1600" b="1" i="0">
                <a:solidFill>
                  <a:srgbClr val="1F497D"/>
                </a:solidFill>
                <a:latin typeface="Calibri"/>
              </a:rPr>
              <a:t>Museum Visitors</a:t>
            </a:r>
          </a:p>
          <a:p>
            <a:pPr>
              <a:lnSpc>
                <a:spcPct val="120000"/>
              </a:lnSpc>
              <a:spcBef>
                <a:spcPts val="800"/>
              </a:spcBef>
            </a:pPr>
            <a:r>
              <a:rPr sz="1200" b="0" i="0">
                <a:solidFill>
                  <a:srgbClr val="222222"/>
                </a:solidFill>
                <a:latin typeface="Calibri"/>
              </a:rPr>
              <a:t>Kaggle LA museums dataset; Avila Adobe focal series</a:t>
            </a:r>
          </a:p>
          <a:p>
            <a:pPr>
              <a:spcBef>
                <a:spcPts val="800"/>
              </a:spcBef>
            </a:pPr>
            <a:r>
              <a:rPr sz="1100" b="0" i="1">
                <a:solidFill>
                  <a:srgbClr val="555555"/>
                </a:solidFill>
                <a:latin typeface="Calibri"/>
              </a:rPr>
              <a:t>Target: monthly visitors</a:t>
            </a:r>
          </a:p>
        </p:txBody>
      </p:sp>
      <p:sp>
        <p:nvSpPr>
          <p:cNvPr id="6" name="Rounded Rectangle 5"/>
          <p:cNvSpPr/>
          <p:nvPr/>
        </p:nvSpPr>
        <p:spPr>
          <a:xfrm>
            <a:off x="3329787" y="1828800"/>
            <a:ext cx="2697480" cy="2377440"/>
          </a:xfrm>
          <a:prstGeom prst="roundRect">
            <a:avLst>
              <a:gd name="adj" fmla="val 5000"/>
            </a:avLst>
          </a:prstGeom>
          <a:solidFill>
            <a:srgbClr val="F6F8FB"/>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l"/>
            <a:r>
              <a:rPr sz="1600" b="1" i="0">
                <a:solidFill>
                  <a:srgbClr val="1F497D"/>
                </a:solidFill>
                <a:latin typeface="Calibri"/>
              </a:rPr>
              <a:t>Weather</a:t>
            </a:r>
          </a:p>
          <a:p>
            <a:pPr>
              <a:lnSpc>
                <a:spcPct val="120000"/>
              </a:lnSpc>
              <a:spcBef>
                <a:spcPts val="800"/>
              </a:spcBef>
            </a:pPr>
            <a:r>
              <a:rPr sz="1200" b="0" i="0">
                <a:solidFill>
                  <a:srgbClr val="222222"/>
                </a:solidFill>
                <a:latin typeface="Calibri"/>
              </a:rPr>
              <a:t>Meteostat / NOAA monthly aggregates for LA</a:t>
            </a:r>
          </a:p>
          <a:p>
            <a:pPr>
              <a:spcBef>
                <a:spcPts val="800"/>
              </a:spcBef>
            </a:pPr>
            <a:r>
              <a:rPr sz="1100" b="0" i="1">
                <a:solidFill>
                  <a:srgbClr val="555555"/>
                </a:solidFill>
                <a:latin typeface="Calibri"/>
              </a:rPr>
              <a:t>avg / min / max temperature, precipitation, wind</a:t>
            </a:r>
          </a:p>
        </p:txBody>
      </p:sp>
      <p:sp>
        <p:nvSpPr>
          <p:cNvPr id="7" name="Rounded Rectangle 6"/>
          <p:cNvSpPr/>
          <p:nvPr/>
        </p:nvSpPr>
        <p:spPr>
          <a:xfrm>
            <a:off x="6164427" y="1828800"/>
            <a:ext cx="2697480" cy="2377440"/>
          </a:xfrm>
          <a:prstGeom prst="roundRect">
            <a:avLst>
              <a:gd name="adj" fmla="val 5000"/>
            </a:avLst>
          </a:prstGeom>
          <a:solidFill>
            <a:srgbClr val="F6F8FB"/>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l"/>
            <a:r>
              <a:rPr sz="1600" b="1" i="0">
                <a:solidFill>
                  <a:srgbClr val="1F497D"/>
                </a:solidFill>
                <a:latin typeface="Calibri"/>
              </a:rPr>
              <a:t>Google Trends</a:t>
            </a:r>
          </a:p>
          <a:p>
            <a:pPr>
              <a:lnSpc>
                <a:spcPct val="120000"/>
              </a:lnSpc>
              <a:spcBef>
                <a:spcPts val="800"/>
              </a:spcBef>
            </a:pPr>
            <a:r>
              <a:rPr sz="1200" b="0" i="0">
                <a:solidFill>
                  <a:srgbClr val="222222"/>
                </a:solidFill>
                <a:latin typeface="Calibri"/>
              </a:rPr>
              <a:t>Versioned pull (v6) of 40+ tourism &amp; museum keywords</a:t>
            </a:r>
          </a:p>
          <a:p>
            <a:pPr>
              <a:spcBef>
                <a:spcPts val="800"/>
              </a:spcBef>
            </a:pPr>
            <a:r>
              <a:rPr sz="1100" b="0" i="1">
                <a:solidFill>
                  <a:srgbClr val="555555"/>
                </a:solidFill>
                <a:latin typeface="Calibri"/>
              </a:rPr>
              <a:t>Relative search interest, plus competitor benchmarks</a:t>
            </a:r>
          </a:p>
        </p:txBody>
      </p:sp>
      <p:sp>
        <p:nvSpPr>
          <p:cNvPr id="8" name="Rounded Rectangle 7"/>
          <p:cNvSpPr/>
          <p:nvPr/>
        </p:nvSpPr>
        <p:spPr>
          <a:xfrm>
            <a:off x="8999067" y="1828800"/>
            <a:ext cx="2697480" cy="2377440"/>
          </a:xfrm>
          <a:prstGeom prst="roundRect">
            <a:avLst>
              <a:gd name="adj" fmla="val 5000"/>
            </a:avLst>
          </a:prstGeom>
          <a:solidFill>
            <a:srgbClr val="F6F8FB"/>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l"/>
            <a:r>
              <a:rPr sz="1600" b="1" i="0">
                <a:solidFill>
                  <a:srgbClr val="1F497D"/>
                </a:solidFill>
                <a:latin typeface="Calibri"/>
              </a:rPr>
              <a:t>Calendar &amp; Seasonality</a:t>
            </a:r>
          </a:p>
          <a:p>
            <a:pPr>
              <a:lnSpc>
                <a:spcPct val="120000"/>
              </a:lnSpc>
              <a:spcBef>
                <a:spcPts val="800"/>
              </a:spcBef>
            </a:pPr>
            <a:r>
              <a:rPr sz="1200" b="0" i="0">
                <a:solidFill>
                  <a:srgbClr val="222222"/>
                </a:solidFill>
                <a:latin typeface="Calibri"/>
              </a:rPr>
              <a:t>Holidays, school breaks, tourism seasons, cyclical encoding</a:t>
            </a:r>
          </a:p>
          <a:p>
            <a:pPr>
              <a:spcBef>
                <a:spcPts val="800"/>
              </a:spcBef>
            </a:pPr>
            <a:r>
              <a:rPr sz="1100" b="0" i="1">
                <a:solidFill>
                  <a:srgbClr val="555555"/>
                </a:solidFill>
                <a:latin typeface="Calibri"/>
              </a:rPr>
              <a:t>month, quarter, sin/cos, holiday flags</a:t>
            </a:r>
          </a:p>
        </p:txBody>
      </p:sp>
      <p:sp>
        <p:nvSpPr>
          <p:cNvPr id="9" name="TextBox 8"/>
          <p:cNvSpPr txBox="1"/>
          <p:nvPr/>
        </p:nvSpPr>
        <p:spPr>
          <a:xfrm>
            <a:off x="502920" y="4434840"/>
            <a:ext cx="11155680" cy="646331"/>
          </a:xfrm>
          <a:prstGeom prst="rect">
            <a:avLst/>
          </a:prstGeom>
          <a:noFill/>
        </p:spPr>
        <p:txBody>
          <a:bodyPr wrap="square" lIns="91440" tIns="45720" rIns="91440" bIns="45720" anchor="t">
            <a:spAutoFit/>
          </a:bodyPr>
          <a:lstStyle/>
          <a:p>
            <a:pPr algn="ctr"/>
            <a:r>
              <a:rPr b="0" i="1">
                <a:solidFill>
                  <a:srgbClr val="555555"/>
                </a:solidFill>
                <a:latin typeface="Calibri"/>
              </a:rPr>
              <a:t>Each source is aggregated to a monthly grain, joined on a common YYYY-MM key, and persisted as final_dataset.csv → model_dataset.csv.</a:t>
            </a:r>
          </a:p>
        </p:txBody>
      </p:sp>
      <p:sp>
        <p:nvSpPr>
          <p:cNvPr id="10" name="TextBox 9"/>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3" name="TextBox 12">
            <a:extLst>
              <a:ext uri="{FF2B5EF4-FFF2-40B4-BE49-F238E27FC236}">
                <a16:creationId xmlns:a16="http://schemas.microsoft.com/office/drawing/2014/main" id="{7F27BE72-54BC-652E-8564-E59A9A12BAAD}"/>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Machine Learning Pipeline</a:t>
            </a:r>
          </a:p>
          <a:p>
            <a:pPr algn="l">
              <a:spcBef>
                <a:spcPts val="200"/>
              </a:spcBef>
            </a:pPr>
            <a:r>
              <a:rPr sz="1600" b="0" i="1">
                <a:solidFill>
                  <a:srgbClr val="555555"/>
                </a:solidFill>
                <a:latin typeface="Calibri"/>
              </a:rPr>
              <a:t>End-to-end workflow from raw extracts to model evaluation</a:t>
            </a:r>
            <a:endParaRPr sz="1600" b="0" i="1">
              <a:solidFill>
                <a:srgbClr val="555555"/>
              </a:solidFill>
              <a:latin typeface="Calibri"/>
              <a:ea typeface="Calibri"/>
              <a:cs typeface="Calibri"/>
            </a:endParaRP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502920" y="1490472"/>
            <a:ext cx="502920" cy="502920"/>
          </a:xfrm>
          <a:prstGeom prst="ellipse">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i="0">
                <a:solidFill>
                  <a:srgbClr val="FFFFFF"/>
                </a:solidFill>
                <a:latin typeface="Calibri"/>
              </a:rPr>
              <a:t>1</a:t>
            </a:r>
          </a:p>
        </p:txBody>
      </p:sp>
      <p:sp>
        <p:nvSpPr>
          <p:cNvPr id="6" name="TextBox 5"/>
          <p:cNvSpPr txBox="1"/>
          <p:nvPr/>
        </p:nvSpPr>
        <p:spPr>
          <a:xfrm>
            <a:off x="1143000" y="1508760"/>
            <a:ext cx="4663440" cy="353943"/>
          </a:xfrm>
          <a:prstGeom prst="rect">
            <a:avLst/>
          </a:prstGeom>
          <a:noFill/>
        </p:spPr>
        <p:txBody>
          <a:bodyPr wrap="square" lIns="0" tIns="0" rIns="91440" bIns="45720" anchor="t">
            <a:spAutoFit/>
          </a:bodyPr>
          <a:lstStyle/>
          <a:p>
            <a:r>
              <a:rPr sz="2000" b="0" i="0">
                <a:solidFill>
                  <a:srgbClr val="222222"/>
                </a:solidFill>
                <a:latin typeface="Calibri"/>
              </a:rPr>
              <a:t>Load museum visitor dataset</a:t>
            </a:r>
          </a:p>
        </p:txBody>
      </p:sp>
      <p:sp>
        <p:nvSpPr>
          <p:cNvPr id="7" name="Oval 6"/>
          <p:cNvSpPr/>
          <p:nvPr/>
        </p:nvSpPr>
        <p:spPr>
          <a:xfrm>
            <a:off x="502920" y="2359152"/>
            <a:ext cx="502920" cy="502920"/>
          </a:xfrm>
          <a:prstGeom prst="ellipse">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i="0">
                <a:solidFill>
                  <a:srgbClr val="FFFFFF"/>
                </a:solidFill>
                <a:latin typeface="Calibri"/>
              </a:rPr>
              <a:t>2</a:t>
            </a:r>
          </a:p>
        </p:txBody>
      </p:sp>
      <p:sp>
        <p:nvSpPr>
          <p:cNvPr id="8" name="TextBox 7"/>
          <p:cNvSpPr txBox="1"/>
          <p:nvPr/>
        </p:nvSpPr>
        <p:spPr>
          <a:xfrm>
            <a:off x="1143000" y="2377440"/>
            <a:ext cx="4663440" cy="353943"/>
          </a:xfrm>
          <a:prstGeom prst="rect">
            <a:avLst/>
          </a:prstGeom>
          <a:noFill/>
        </p:spPr>
        <p:txBody>
          <a:bodyPr wrap="square" lIns="0" tIns="0" rIns="91440" bIns="45720" anchor="t">
            <a:spAutoFit/>
          </a:bodyPr>
          <a:lstStyle/>
          <a:p>
            <a:r>
              <a:rPr sz="2000" b="0" i="0">
                <a:solidFill>
                  <a:srgbClr val="222222"/>
                </a:solidFill>
                <a:latin typeface="Calibri"/>
              </a:rPr>
              <a:t>Add weather data (</a:t>
            </a:r>
            <a:r>
              <a:rPr sz="2000" b="0" i="0" err="1">
                <a:solidFill>
                  <a:srgbClr val="222222"/>
                </a:solidFill>
                <a:latin typeface="Calibri"/>
              </a:rPr>
              <a:t>Meteostat</a:t>
            </a:r>
            <a:r>
              <a:rPr sz="2000" b="0" i="0">
                <a:solidFill>
                  <a:srgbClr val="222222"/>
                </a:solidFill>
                <a:latin typeface="Calibri"/>
              </a:rPr>
              <a:t> / NOAA)</a:t>
            </a:r>
          </a:p>
        </p:txBody>
      </p:sp>
      <p:sp>
        <p:nvSpPr>
          <p:cNvPr id="9" name="Oval 8"/>
          <p:cNvSpPr/>
          <p:nvPr/>
        </p:nvSpPr>
        <p:spPr>
          <a:xfrm>
            <a:off x="502920" y="3227832"/>
            <a:ext cx="502920" cy="502920"/>
          </a:xfrm>
          <a:prstGeom prst="ellipse">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i="0">
                <a:solidFill>
                  <a:srgbClr val="FFFFFF"/>
                </a:solidFill>
                <a:latin typeface="Calibri"/>
              </a:rPr>
              <a:t>3</a:t>
            </a:r>
          </a:p>
        </p:txBody>
      </p:sp>
      <p:sp>
        <p:nvSpPr>
          <p:cNvPr id="10" name="TextBox 9"/>
          <p:cNvSpPr txBox="1"/>
          <p:nvPr/>
        </p:nvSpPr>
        <p:spPr>
          <a:xfrm>
            <a:off x="1143000" y="3246120"/>
            <a:ext cx="4663440" cy="353943"/>
          </a:xfrm>
          <a:prstGeom prst="rect">
            <a:avLst/>
          </a:prstGeom>
          <a:noFill/>
        </p:spPr>
        <p:txBody>
          <a:bodyPr wrap="square" lIns="0" tIns="0" rIns="91440" bIns="45720" anchor="t">
            <a:spAutoFit/>
          </a:bodyPr>
          <a:lstStyle/>
          <a:p>
            <a:r>
              <a:rPr sz="2000" b="0" i="0">
                <a:solidFill>
                  <a:srgbClr val="222222"/>
                </a:solidFill>
                <a:latin typeface="Calibri"/>
              </a:rPr>
              <a:t>Add calendar + seasonality features</a:t>
            </a:r>
          </a:p>
        </p:txBody>
      </p:sp>
      <p:sp>
        <p:nvSpPr>
          <p:cNvPr id="11" name="Oval 10"/>
          <p:cNvSpPr/>
          <p:nvPr/>
        </p:nvSpPr>
        <p:spPr>
          <a:xfrm>
            <a:off x="502920" y="4096512"/>
            <a:ext cx="502920" cy="502920"/>
          </a:xfrm>
          <a:prstGeom prst="ellipse">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i="0">
                <a:solidFill>
                  <a:srgbClr val="FFFFFF"/>
                </a:solidFill>
                <a:latin typeface="Calibri"/>
              </a:rPr>
              <a:t>4</a:t>
            </a:r>
          </a:p>
        </p:txBody>
      </p:sp>
      <p:sp>
        <p:nvSpPr>
          <p:cNvPr id="12" name="TextBox 11"/>
          <p:cNvSpPr txBox="1"/>
          <p:nvPr/>
        </p:nvSpPr>
        <p:spPr>
          <a:xfrm>
            <a:off x="1143000" y="4114800"/>
            <a:ext cx="4663440" cy="353943"/>
          </a:xfrm>
          <a:prstGeom prst="rect">
            <a:avLst/>
          </a:prstGeom>
          <a:noFill/>
        </p:spPr>
        <p:txBody>
          <a:bodyPr wrap="square" lIns="0" tIns="0" rIns="91440" bIns="45720" anchor="t">
            <a:spAutoFit/>
          </a:bodyPr>
          <a:lstStyle/>
          <a:p>
            <a:r>
              <a:rPr sz="2000" b="0" i="0">
                <a:solidFill>
                  <a:srgbClr val="222222"/>
                </a:solidFill>
                <a:latin typeface="Calibri"/>
              </a:rPr>
              <a:t>Add Google Trends (v6 pull)</a:t>
            </a:r>
          </a:p>
        </p:txBody>
      </p:sp>
      <p:sp>
        <p:nvSpPr>
          <p:cNvPr id="13" name="Oval 12"/>
          <p:cNvSpPr/>
          <p:nvPr/>
        </p:nvSpPr>
        <p:spPr>
          <a:xfrm>
            <a:off x="502920" y="4965192"/>
            <a:ext cx="502920" cy="502920"/>
          </a:xfrm>
          <a:prstGeom prst="ellipse">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i="0">
                <a:solidFill>
                  <a:srgbClr val="FFFFFF"/>
                </a:solidFill>
                <a:latin typeface="Calibri"/>
              </a:rPr>
              <a:t>5</a:t>
            </a:r>
          </a:p>
        </p:txBody>
      </p:sp>
      <p:sp>
        <p:nvSpPr>
          <p:cNvPr id="14" name="TextBox 13"/>
          <p:cNvSpPr txBox="1"/>
          <p:nvPr/>
        </p:nvSpPr>
        <p:spPr>
          <a:xfrm>
            <a:off x="1143000" y="4983480"/>
            <a:ext cx="4663440" cy="661720"/>
          </a:xfrm>
          <a:prstGeom prst="rect">
            <a:avLst/>
          </a:prstGeom>
          <a:noFill/>
        </p:spPr>
        <p:txBody>
          <a:bodyPr wrap="square" lIns="0" tIns="0" rIns="91440" bIns="45720" anchor="t">
            <a:spAutoFit/>
          </a:bodyPr>
          <a:lstStyle/>
          <a:p>
            <a:r>
              <a:rPr sz="2000" b="0" i="0">
                <a:solidFill>
                  <a:srgbClr val="222222"/>
                </a:solidFill>
                <a:latin typeface="Calibri"/>
              </a:rPr>
              <a:t>Engineer lag variables (lag1, lag12, rolling mean)</a:t>
            </a:r>
          </a:p>
        </p:txBody>
      </p:sp>
      <p:sp>
        <p:nvSpPr>
          <p:cNvPr id="15" name="Oval 14"/>
          <p:cNvSpPr/>
          <p:nvPr/>
        </p:nvSpPr>
        <p:spPr>
          <a:xfrm>
            <a:off x="6217920" y="1490472"/>
            <a:ext cx="502920" cy="502920"/>
          </a:xfrm>
          <a:prstGeom prst="ellipse">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i="0">
                <a:solidFill>
                  <a:srgbClr val="FFFFFF"/>
                </a:solidFill>
                <a:latin typeface="Calibri"/>
              </a:rPr>
              <a:t>6</a:t>
            </a:r>
          </a:p>
        </p:txBody>
      </p:sp>
      <p:sp>
        <p:nvSpPr>
          <p:cNvPr id="16" name="TextBox 15"/>
          <p:cNvSpPr txBox="1"/>
          <p:nvPr/>
        </p:nvSpPr>
        <p:spPr>
          <a:xfrm>
            <a:off x="6858000" y="1508760"/>
            <a:ext cx="4663440" cy="353943"/>
          </a:xfrm>
          <a:prstGeom prst="rect">
            <a:avLst/>
          </a:prstGeom>
          <a:noFill/>
        </p:spPr>
        <p:txBody>
          <a:bodyPr wrap="square" lIns="0" tIns="0" rIns="91440" bIns="45720" anchor="t">
            <a:spAutoFit/>
          </a:bodyPr>
          <a:lstStyle/>
          <a:p>
            <a:r>
              <a:rPr sz="2000" b="0" i="0">
                <a:solidFill>
                  <a:srgbClr val="222222"/>
                </a:solidFill>
                <a:latin typeface="Calibri"/>
              </a:rPr>
              <a:t>Time-based train / test split</a:t>
            </a:r>
          </a:p>
        </p:txBody>
      </p:sp>
      <p:sp>
        <p:nvSpPr>
          <p:cNvPr id="17" name="Oval 16"/>
          <p:cNvSpPr/>
          <p:nvPr/>
        </p:nvSpPr>
        <p:spPr>
          <a:xfrm>
            <a:off x="6217920" y="2359152"/>
            <a:ext cx="502920" cy="502920"/>
          </a:xfrm>
          <a:prstGeom prst="ellipse">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i="0">
                <a:solidFill>
                  <a:srgbClr val="FFFFFF"/>
                </a:solidFill>
                <a:latin typeface="Calibri"/>
              </a:rPr>
              <a:t>7</a:t>
            </a:r>
          </a:p>
        </p:txBody>
      </p:sp>
      <p:sp>
        <p:nvSpPr>
          <p:cNvPr id="18" name="TextBox 17"/>
          <p:cNvSpPr txBox="1"/>
          <p:nvPr/>
        </p:nvSpPr>
        <p:spPr>
          <a:xfrm>
            <a:off x="6858000" y="2377440"/>
            <a:ext cx="4663440" cy="353943"/>
          </a:xfrm>
          <a:prstGeom prst="rect">
            <a:avLst/>
          </a:prstGeom>
          <a:noFill/>
        </p:spPr>
        <p:txBody>
          <a:bodyPr wrap="square" lIns="0" tIns="0" rIns="91440" bIns="45720" anchor="t">
            <a:spAutoFit/>
          </a:bodyPr>
          <a:lstStyle/>
          <a:p>
            <a:r>
              <a:rPr sz="2000" b="0" i="0">
                <a:solidFill>
                  <a:srgbClr val="222222"/>
                </a:solidFill>
                <a:latin typeface="Calibri"/>
              </a:rPr>
              <a:t>Train Linear, LASSO, LASSO-LARS, RF, GB</a:t>
            </a:r>
          </a:p>
        </p:txBody>
      </p:sp>
      <p:sp>
        <p:nvSpPr>
          <p:cNvPr id="19" name="Oval 18"/>
          <p:cNvSpPr/>
          <p:nvPr/>
        </p:nvSpPr>
        <p:spPr>
          <a:xfrm>
            <a:off x="6217920" y="3227832"/>
            <a:ext cx="502920" cy="502920"/>
          </a:xfrm>
          <a:prstGeom prst="ellipse">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i="0">
                <a:solidFill>
                  <a:srgbClr val="FFFFFF"/>
                </a:solidFill>
                <a:latin typeface="Calibri"/>
              </a:rPr>
              <a:t>8</a:t>
            </a:r>
          </a:p>
        </p:txBody>
      </p:sp>
      <p:sp>
        <p:nvSpPr>
          <p:cNvPr id="20" name="TextBox 19"/>
          <p:cNvSpPr txBox="1"/>
          <p:nvPr/>
        </p:nvSpPr>
        <p:spPr>
          <a:xfrm>
            <a:off x="6858000" y="3246120"/>
            <a:ext cx="4663440" cy="353943"/>
          </a:xfrm>
          <a:prstGeom prst="rect">
            <a:avLst/>
          </a:prstGeom>
          <a:noFill/>
        </p:spPr>
        <p:txBody>
          <a:bodyPr wrap="square" lIns="0" tIns="0" rIns="91440" bIns="45720" anchor="t">
            <a:spAutoFit/>
          </a:bodyPr>
          <a:lstStyle/>
          <a:p>
            <a:r>
              <a:rPr sz="2000" b="0" i="0">
                <a:solidFill>
                  <a:srgbClr val="222222"/>
                </a:solidFill>
                <a:latin typeface="Calibri"/>
              </a:rPr>
              <a:t>Evaluate RMSE / MAE / R²</a:t>
            </a:r>
          </a:p>
        </p:txBody>
      </p:sp>
      <p:sp>
        <p:nvSpPr>
          <p:cNvPr id="21" name="Oval 20"/>
          <p:cNvSpPr/>
          <p:nvPr/>
        </p:nvSpPr>
        <p:spPr>
          <a:xfrm>
            <a:off x="6217920" y="4096512"/>
            <a:ext cx="502920" cy="502920"/>
          </a:xfrm>
          <a:prstGeom prst="ellipse">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i="0">
                <a:solidFill>
                  <a:srgbClr val="FFFFFF"/>
                </a:solidFill>
                <a:latin typeface="Calibri"/>
              </a:rPr>
              <a:t>9</a:t>
            </a:r>
          </a:p>
        </p:txBody>
      </p:sp>
      <p:sp>
        <p:nvSpPr>
          <p:cNvPr id="22" name="TextBox 21"/>
          <p:cNvSpPr txBox="1"/>
          <p:nvPr/>
        </p:nvSpPr>
        <p:spPr>
          <a:xfrm>
            <a:off x="6858000" y="4114800"/>
            <a:ext cx="4663440" cy="353943"/>
          </a:xfrm>
          <a:prstGeom prst="rect">
            <a:avLst/>
          </a:prstGeom>
          <a:noFill/>
        </p:spPr>
        <p:txBody>
          <a:bodyPr wrap="square" lIns="0" tIns="0" rIns="91440" bIns="45720" anchor="t">
            <a:spAutoFit/>
          </a:bodyPr>
          <a:lstStyle/>
          <a:p>
            <a:r>
              <a:rPr sz="2000" b="0" i="0">
                <a:solidFill>
                  <a:srgbClr val="222222"/>
                </a:solidFill>
                <a:latin typeface="Calibri"/>
              </a:rPr>
              <a:t>Interpret coefficients &amp; feature importance</a:t>
            </a:r>
          </a:p>
        </p:txBody>
      </p:sp>
      <p:sp>
        <p:nvSpPr>
          <p:cNvPr id="23" name="Oval 22"/>
          <p:cNvSpPr/>
          <p:nvPr/>
        </p:nvSpPr>
        <p:spPr>
          <a:xfrm>
            <a:off x="6217920" y="4965192"/>
            <a:ext cx="502920" cy="502920"/>
          </a:xfrm>
          <a:prstGeom prst="ellipse">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i="0">
                <a:solidFill>
                  <a:srgbClr val="FFFFFF"/>
                </a:solidFill>
                <a:latin typeface="Calibri"/>
              </a:rPr>
              <a:t>10</a:t>
            </a:r>
          </a:p>
        </p:txBody>
      </p:sp>
      <p:sp>
        <p:nvSpPr>
          <p:cNvPr id="24" name="TextBox 23"/>
          <p:cNvSpPr txBox="1"/>
          <p:nvPr/>
        </p:nvSpPr>
        <p:spPr>
          <a:xfrm>
            <a:off x="6858000" y="4983480"/>
            <a:ext cx="4663440" cy="661720"/>
          </a:xfrm>
          <a:prstGeom prst="rect">
            <a:avLst/>
          </a:prstGeom>
          <a:noFill/>
        </p:spPr>
        <p:txBody>
          <a:bodyPr wrap="square" lIns="0" tIns="0" rIns="91440" bIns="45720" anchor="t">
            <a:spAutoFit/>
          </a:bodyPr>
          <a:lstStyle/>
          <a:p>
            <a:r>
              <a:rPr lang="en-US" sz="2000">
                <a:solidFill>
                  <a:srgbClr val="222222"/>
                </a:solidFill>
                <a:latin typeface="Calibri"/>
              </a:rPr>
              <a:t>Translate</a:t>
            </a:r>
            <a:r>
              <a:rPr sz="2000" b="0" i="0">
                <a:solidFill>
                  <a:srgbClr val="222222"/>
                </a:solidFill>
                <a:latin typeface="Calibri"/>
              </a:rPr>
              <a:t> findings into marketing &amp; staffing actions</a:t>
            </a:r>
          </a:p>
        </p:txBody>
      </p:sp>
      <p:sp>
        <p:nvSpPr>
          <p:cNvPr id="25" name="TextBox 24"/>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32" name="TextBox 31">
            <a:extLst>
              <a:ext uri="{FF2B5EF4-FFF2-40B4-BE49-F238E27FC236}">
                <a16:creationId xmlns:a16="http://schemas.microsoft.com/office/drawing/2014/main" id="{8DD50A93-BB2F-3158-44B1-610069C605C0}"/>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diagram of data processing">
            <a:extLst>
              <a:ext uri="{FF2B5EF4-FFF2-40B4-BE49-F238E27FC236}">
                <a16:creationId xmlns:a16="http://schemas.microsoft.com/office/drawing/2014/main" id="{01C49F10-526E-4E10-9A23-B13FFCAC039C}"/>
              </a:ext>
            </a:extLst>
          </p:cNvPr>
          <p:cNvPicPr>
            <a:picLocks noChangeAspect="1"/>
          </p:cNvPicPr>
          <p:nvPr/>
        </p:nvPicPr>
        <p:blipFill>
          <a:blip r:embed="rId2"/>
          <a:stretch>
            <a:fillRect/>
          </a:stretch>
        </p:blipFill>
        <p:spPr>
          <a:xfrm>
            <a:off x="948715" y="0"/>
            <a:ext cx="10294570" cy="6858000"/>
          </a:xfrm>
          <a:prstGeom prst="rect">
            <a:avLst/>
          </a:prstGeom>
        </p:spPr>
      </p:pic>
      <p:sp>
        <p:nvSpPr>
          <p:cNvPr id="6" name="TextBox 5">
            <a:extLst>
              <a:ext uri="{FF2B5EF4-FFF2-40B4-BE49-F238E27FC236}">
                <a16:creationId xmlns:a16="http://schemas.microsoft.com/office/drawing/2014/main" id="{F0A3DF23-0EB9-3757-CDDE-87373ADC0295}"/>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6</a:t>
            </a:r>
          </a:p>
        </p:txBody>
      </p:sp>
    </p:spTree>
    <p:extLst>
      <p:ext uri="{BB962C8B-B14F-4D97-AF65-F5344CB8AC3E}">
        <p14:creationId xmlns:p14="http://schemas.microsoft.com/office/powerpoint/2010/main" val="714738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Key Variables I</a:t>
            </a:r>
          </a:p>
          <a:p>
            <a:pPr algn="l">
              <a:spcBef>
                <a:spcPts val="200"/>
              </a:spcBef>
            </a:pPr>
            <a:r>
              <a:rPr sz="1600" b="0" i="1">
                <a:solidFill>
                  <a:srgbClr val="555555"/>
                </a:solidFill>
                <a:latin typeface="Calibri"/>
              </a:rPr>
              <a:t>Target, weather, and calendar / seasonality</a:t>
            </a:r>
            <a:endParaRPr sz="1600" b="0" i="1">
              <a:solidFill>
                <a:srgbClr val="555555"/>
              </a:solidFill>
              <a:latin typeface="Calibri"/>
              <a:ea typeface="Calibri"/>
              <a:cs typeface="Calibri"/>
            </a:endParaRP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25880"/>
            <a:ext cx="2351478" cy="415498"/>
          </a:xfrm>
          <a:prstGeom prst="rect">
            <a:avLst/>
          </a:prstGeom>
          <a:noFill/>
        </p:spPr>
        <p:txBody>
          <a:bodyPr wrap="none" lIns="45720" tIns="0" rIns="91440" bIns="45720" anchor="t">
            <a:spAutoFit/>
          </a:bodyPr>
          <a:lstStyle/>
          <a:p>
            <a:r>
              <a:rPr sz="2400" b="1" i="0">
                <a:solidFill>
                  <a:srgbClr val="1F497D"/>
                </a:solidFill>
                <a:latin typeface="Calibri"/>
              </a:rPr>
              <a:t>Target &amp; weather</a:t>
            </a:r>
            <a:endParaRPr lang="en-US" sz="2400" b="1" i="0">
              <a:solidFill>
                <a:srgbClr val="1F497D"/>
              </a:solidFill>
              <a:latin typeface="Calibri"/>
              <a:ea typeface="Calibri"/>
              <a:cs typeface="Calibri"/>
            </a:endParaRPr>
          </a:p>
        </p:txBody>
      </p:sp>
      <p:sp>
        <p:nvSpPr>
          <p:cNvPr id="6" name="TextBox 5"/>
          <p:cNvSpPr txBox="1"/>
          <p:nvPr/>
        </p:nvSpPr>
        <p:spPr>
          <a:xfrm>
            <a:off x="502920" y="1783080"/>
            <a:ext cx="5440680" cy="2992871"/>
          </a:xfrm>
          <a:prstGeom prst="rect">
            <a:avLst/>
          </a:prstGeom>
          <a:noFill/>
        </p:spPr>
        <p:txBody>
          <a:bodyPr wrap="square" lIns="45720" tIns="45720" rIns="91440" bIns="45720" anchor="t">
            <a:spAutoFit/>
          </a:bodyPr>
          <a:lstStyle/>
          <a:p>
            <a:pPr>
              <a:lnSpc>
                <a:spcPct val="118000"/>
              </a:lnSpc>
              <a:spcAft>
                <a:spcPts val="300"/>
              </a:spcAft>
            </a:pPr>
            <a:r>
              <a:rPr sz="2000" b="1" i="0">
                <a:solidFill>
                  <a:srgbClr val="1F497D"/>
                </a:solidFill>
                <a:latin typeface="Calibri"/>
              </a:rPr>
              <a:t>•  </a:t>
            </a:r>
            <a:r>
              <a:rPr sz="2000" b="0" i="0">
                <a:solidFill>
                  <a:srgbClr val="222222"/>
                </a:solidFill>
                <a:latin typeface="Calibri"/>
              </a:rPr>
              <a:t>visitors</a:t>
            </a:r>
            <a:endParaRPr lang="en-US" sz="2000" b="0" i="0">
              <a:solidFill>
                <a:srgbClr val="222222"/>
              </a:solidFill>
              <a:latin typeface="Calibri"/>
              <a:ea typeface="Calibri"/>
              <a:cs typeface="Calibri"/>
            </a:endParaRPr>
          </a:p>
          <a:p>
            <a:pPr lvl="1">
              <a:lnSpc>
                <a:spcPct val="115000"/>
              </a:lnSpc>
              <a:spcAft>
                <a:spcPts val="100"/>
              </a:spcAft>
            </a:pPr>
            <a:r>
              <a:rPr b="0" i="0">
                <a:solidFill>
                  <a:srgbClr val="555555"/>
                </a:solidFill>
                <a:latin typeface="Calibri"/>
              </a:rPr>
              <a:t>–  Monthly count, log-friendly distribution</a:t>
            </a:r>
            <a:endParaRPr b="0" i="0">
              <a:solidFill>
                <a:srgbClr val="555555"/>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err="1">
                <a:solidFill>
                  <a:srgbClr val="222222"/>
                </a:solidFill>
                <a:latin typeface="Calibri"/>
              </a:rPr>
              <a:t>avg_temp_F</a:t>
            </a:r>
            <a:r>
              <a:rPr sz="2000" b="0" i="0">
                <a:solidFill>
                  <a:srgbClr val="222222"/>
                </a:solidFill>
                <a:latin typeface="Calibri"/>
              </a:rPr>
              <a:t> / </a:t>
            </a:r>
            <a:r>
              <a:rPr sz="2000" b="0" i="0" err="1">
                <a:solidFill>
                  <a:srgbClr val="222222"/>
                </a:solidFill>
                <a:latin typeface="Calibri"/>
              </a:rPr>
              <a:t>min_temp_F</a:t>
            </a:r>
            <a:r>
              <a:rPr sz="2000" b="0" i="0">
                <a:solidFill>
                  <a:srgbClr val="222222"/>
                </a:solidFill>
                <a:latin typeface="Calibri"/>
              </a:rPr>
              <a:t> / </a:t>
            </a:r>
            <a:r>
              <a:rPr sz="2000" b="0" i="0" err="1">
                <a:solidFill>
                  <a:srgbClr val="222222"/>
                </a:solidFill>
                <a:latin typeface="Calibri"/>
              </a:rPr>
              <a:t>max_temp_F</a:t>
            </a:r>
            <a:endParaRPr sz="2000" b="0" i="0" err="1">
              <a:solidFill>
                <a:srgbClr val="222222"/>
              </a:solidFill>
              <a:latin typeface="Calibri"/>
              <a:ea typeface="Calibri"/>
              <a:cs typeface="Calibri"/>
            </a:endParaRPr>
          </a:p>
          <a:p>
            <a:pPr lvl="1">
              <a:lnSpc>
                <a:spcPct val="115000"/>
              </a:lnSpc>
              <a:spcAft>
                <a:spcPts val="100"/>
              </a:spcAft>
            </a:pPr>
            <a:r>
              <a:rPr b="0" i="0">
                <a:solidFill>
                  <a:srgbClr val="555555"/>
                </a:solidFill>
                <a:latin typeface="Calibri"/>
              </a:rPr>
              <a:t>–  Monthly LA temperature aggregates</a:t>
            </a:r>
            <a:endParaRPr b="0" i="0">
              <a:solidFill>
                <a:srgbClr val="555555"/>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err="1">
                <a:solidFill>
                  <a:srgbClr val="222222"/>
                </a:solidFill>
                <a:latin typeface="Calibri"/>
              </a:rPr>
              <a:t>total_precip_in</a:t>
            </a:r>
            <a:endParaRPr sz="2000" b="0" i="0" err="1">
              <a:solidFill>
                <a:srgbClr val="222222"/>
              </a:solidFill>
              <a:latin typeface="Calibri"/>
              <a:ea typeface="Calibri"/>
              <a:cs typeface="Calibri"/>
            </a:endParaRPr>
          </a:p>
          <a:p>
            <a:pPr lvl="1">
              <a:lnSpc>
                <a:spcPct val="115000"/>
              </a:lnSpc>
              <a:spcAft>
                <a:spcPts val="100"/>
              </a:spcAft>
            </a:pPr>
            <a:r>
              <a:rPr b="0" i="0">
                <a:solidFill>
                  <a:srgbClr val="555555"/>
                </a:solidFill>
                <a:latin typeface="Calibri"/>
              </a:rPr>
              <a:t>–  Total monthly rainfall (inches)</a:t>
            </a:r>
            <a:endParaRPr b="0" i="0">
              <a:solidFill>
                <a:srgbClr val="555555"/>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err="1">
                <a:solidFill>
                  <a:srgbClr val="222222"/>
                </a:solidFill>
                <a:latin typeface="Calibri"/>
              </a:rPr>
              <a:t>avg_wind_mph</a:t>
            </a:r>
            <a:endParaRPr sz="2000" b="0" i="0" err="1">
              <a:solidFill>
                <a:srgbClr val="222222"/>
              </a:solidFill>
              <a:latin typeface="Calibri"/>
              <a:ea typeface="Calibri"/>
              <a:cs typeface="Calibri"/>
            </a:endParaRPr>
          </a:p>
          <a:p>
            <a:pPr lvl="1">
              <a:lnSpc>
                <a:spcPct val="115000"/>
              </a:lnSpc>
              <a:spcAft>
                <a:spcPts val="100"/>
              </a:spcAft>
            </a:pPr>
            <a:r>
              <a:rPr b="0" i="0">
                <a:solidFill>
                  <a:srgbClr val="555555"/>
                </a:solidFill>
                <a:latin typeface="Calibri"/>
              </a:rPr>
              <a:t>–  Monthly mean wind speed</a:t>
            </a:r>
            <a:endParaRPr b="0" i="0">
              <a:solidFill>
                <a:srgbClr val="555555"/>
              </a:solidFill>
              <a:latin typeface="Calibri"/>
              <a:ea typeface="Calibri"/>
              <a:cs typeface="Calibri"/>
            </a:endParaRPr>
          </a:p>
        </p:txBody>
      </p:sp>
      <p:sp>
        <p:nvSpPr>
          <p:cNvPr id="7" name="TextBox 6"/>
          <p:cNvSpPr txBox="1"/>
          <p:nvPr/>
        </p:nvSpPr>
        <p:spPr>
          <a:xfrm>
            <a:off x="6217920" y="1325880"/>
            <a:ext cx="3071995" cy="415498"/>
          </a:xfrm>
          <a:prstGeom prst="rect">
            <a:avLst/>
          </a:prstGeom>
          <a:noFill/>
        </p:spPr>
        <p:txBody>
          <a:bodyPr wrap="none" lIns="45720" tIns="0" rIns="91440" bIns="45720" anchor="t">
            <a:spAutoFit/>
          </a:bodyPr>
          <a:lstStyle/>
          <a:p>
            <a:r>
              <a:rPr sz="2400" b="1" i="0">
                <a:solidFill>
                  <a:srgbClr val="1F497D"/>
                </a:solidFill>
                <a:latin typeface="Calibri"/>
              </a:rPr>
              <a:t>Calendar &amp; seasonality</a:t>
            </a:r>
          </a:p>
        </p:txBody>
      </p:sp>
      <p:sp>
        <p:nvSpPr>
          <p:cNvPr id="8" name="TextBox 7"/>
          <p:cNvSpPr txBox="1"/>
          <p:nvPr/>
        </p:nvSpPr>
        <p:spPr>
          <a:xfrm>
            <a:off x="6217920" y="1783080"/>
            <a:ext cx="5440680" cy="3725892"/>
          </a:xfrm>
          <a:prstGeom prst="rect">
            <a:avLst/>
          </a:prstGeom>
          <a:noFill/>
        </p:spPr>
        <p:txBody>
          <a:bodyPr wrap="square" lIns="45720" tIns="45720" rIns="91440" bIns="45720" anchor="t">
            <a:spAutoFit/>
          </a:bodyPr>
          <a:lstStyle/>
          <a:p>
            <a:pPr>
              <a:lnSpc>
                <a:spcPct val="118000"/>
              </a:lnSpc>
              <a:spcAft>
                <a:spcPts val="300"/>
              </a:spcAft>
            </a:pPr>
            <a:r>
              <a:rPr sz="2000" b="1" i="0">
                <a:solidFill>
                  <a:srgbClr val="1F497D"/>
                </a:solidFill>
                <a:latin typeface="Calibri"/>
              </a:rPr>
              <a:t>•  </a:t>
            </a:r>
            <a:r>
              <a:rPr sz="2000" b="0" i="0">
                <a:solidFill>
                  <a:srgbClr val="222222"/>
                </a:solidFill>
                <a:latin typeface="Calibri"/>
              </a:rPr>
              <a:t>month, year, quarter</a:t>
            </a:r>
            <a:endParaRPr lang="en-US" sz="2000" b="0" i="0">
              <a:solidFill>
                <a:srgbClr val="222222"/>
              </a:solidFill>
              <a:latin typeface="Calibri"/>
              <a:ea typeface="Calibri"/>
              <a:cs typeface="Calibri"/>
            </a:endParaRPr>
          </a:p>
          <a:p>
            <a:pPr lvl="1">
              <a:lnSpc>
                <a:spcPct val="115000"/>
              </a:lnSpc>
              <a:spcAft>
                <a:spcPts val="100"/>
              </a:spcAft>
            </a:pPr>
            <a:r>
              <a:rPr b="0" i="0">
                <a:solidFill>
                  <a:srgbClr val="555555"/>
                </a:solidFill>
                <a:latin typeface="Calibri"/>
              </a:rPr>
              <a:t>–  Basic time index</a:t>
            </a:r>
            <a:endParaRPr b="0" i="0">
              <a:solidFill>
                <a:srgbClr val="555555"/>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err="1">
                <a:solidFill>
                  <a:srgbClr val="222222"/>
                </a:solidFill>
                <a:latin typeface="Calibri"/>
              </a:rPr>
              <a:t>is_winter</a:t>
            </a:r>
            <a:r>
              <a:rPr sz="2000" b="0" i="0">
                <a:solidFill>
                  <a:srgbClr val="222222"/>
                </a:solidFill>
                <a:latin typeface="Calibri"/>
              </a:rPr>
              <a:t> / </a:t>
            </a:r>
            <a:r>
              <a:rPr sz="2000" b="0" i="0" err="1">
                <a:solidFill>
                  <a:srgbClr val="222222"/>
                </a:solidFill>
                <a:latin typeface="Calibri"/>
              </a:rPr>
              <a:t>is_spring</a:t>
            </a:r>
            <a:r>
              <a:rPr sz="2000" b="0" i="0">
                <a:solidFill>
                  <a:srgbClr val="222222"/>
                </a:solidFill>
                <a:latin typeface="Calibri"/>
              </a:rPr>
              <a:t> / </a:t>
            </a:r>
            <a:r>
              <a:rPr sz="2000" b="0" i="0" err="1">
                <a:solidFill>
                  <a:srgbClr val="222222"/>
                </a:solidFill>
                <a:latin typeface="Calibri"/>
              </a:rPr>
              <a:t>is_summer</a:t>
            </a:r>
            <a:r>
              <a:rPr sz="2000" b="0" i="0">
                <a:solidFill>
                  <a:srgbClr val="222222"/>
                </a:solidFill>
                <a:latin typeface="Calibri"/>
              </a:rPr>
              <a:t> / </a:t>
            </a:r>
            <a:r>
              <a:rPr sz="2000" b="0" i="0" err="1">
                <a:solidFill>
                  <a:srgbClr val="222222"/>
                </a:solidFill>
                <a:latin typeface="Calibri"/>
              </a:rPr>
              <a:t>is_fall</a:t>
            </a:r>
            <a:endParaRPr sz="2000" b="0" i="0" err="1">
              <a:solidFill>
                <a:srgbClr val="222222"/>
              </a:solidFill>
              <a:latin typeface="Calibri"/>
              <a:ea typeface="Calibri"/>
              <a:cs typeface="Calibri"/>
            </a:endParaRPr>
          </a:p>
          <a:p>
            <a:pPr lvl="1">
              <a:lnSpc>
                <a:spcPct val="115000"/>
              </a:lnSpc>
              <a:spcAft>
                <a:spcPts val="100"/>
              </a:spcAft>
            </a:pPr>
            <a:r>
              <a:rPr b="0" i="0">
                <a:solidFill>
                  <a:srgbClr val="555555"/>
                </a:solidFill>
                <a:latin typeface="Calibri"/>
              </a:rPr>
              <a:t>–  Seasonal flags</a:t>
            </a:r>
            <a:endParaRPr b="0" i="0">
              <a:solidFill>
                <a:srgbClr val="555555"/>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err="1">
                <a:solidFill>
                  <a:srgbClr val="222222"/>
                </a:solidFill>
                <a:latin typeface="Calibri"/>
              </a:rPr>
              <a:t>has_federal_holiday</a:t>
            </a:r>
            <a:r>
              <a:rPr sz="2000" b="0" i="0">
                <a:solidFill>
                  <a:srgbClr val="222222"/>
                </a:solidFill>
                <a:latin typeface="Calibri"/>
              </a:rPr>
              <a:t>, </a:t>
            </a:r>
            <a:r>
              <a:rPr sz="2000" b="0" i="0" err="1">
                <a:solidFill>
                  <a:srgbClr val="222222"/>
                </a:solidFill>
                <a:latin typeface="Calibri"/>
              </a:rPr>
              <a:t>holiday_season</a:t>
            </a:r>
            <a:endParaRPr sz="2000" b="0" i="0" err="1">
              <a:solidFill>
                <a:srgbClr val="222222"/>
              </a:solidFill>
              <a:latin typeface="Calibri"/>
              <a:ea typeface="Calibri"/>
              <a:cs typeface="Calibri"/>
            </a:endParaRPr>
          </a:p>
          <a:p>
            <a:pPr lvl="1">
              <a:lnSpc>
                <a:spcPct val="115000"/>
              </a:lnSpc>
              <a:spcAft>
                <a:spcPts val="100"/>
              </a:spcAft>
            </a:pPr>
            <a:r>
              <a:rPr b="0" i="0">
                <a:solidFill>
                  <a:srgbClr val="555555"/>
                </a:solidFill>
                <a:latin typeface="Calibri"/>
              </a:rPr>
              <a:t>–  Holiday-driven traffic</a:t>
            </a:r>
            <a:endParaRPr b="0" i="0">
              <a:solidFill>
                <a:srgbClr val="555555"/>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err="1">
                <a:solidFill>
                  <a:srgbClr val="222222"/>
                </a:solidFill>
                <a:latin typeface="Calibri"/>
              </a:rPr>
              <a:t>summer_tourism_season</a:t>
            </a:r>
            <a:endParaRPr sz="2000" b="0" i="0" err="1">
              <a:solidFill>
                <a:srgbClr val="222222"/>
              </a:solidFill>
              <a:latin typeface="Calibri"/>
              <a:ea typeface="Calibri"/>
              <a:cs typeface="Calibri"/>
            </a:endParaRPr>
          </a:p>
          <a:p>
            <a:pPr lvl="1">
              <a:lnSpc>
                <a:spcPct val="115000"/>
              </a:lnSpc>
              <a:spcAft>
                <a:spcPts val="100"/>
              </a:spcAft>
            </a:pPr>
            <a:r>
              <a:rPr b="0" i="0">
                <a:solidFill>
                  <a:srgbClr val="555555"/>
                </a:solidFill>
                <a:latin typeface="Calibri"/>
              </a:rPr>
              <a:t>–  LA peak-tourism block</a:t>
            </a:r>
            <a:endParaRPr b="0" i="0">
              <a:solidFill>
                <a:srgbClr val="555555"/>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err="1">
                <a:solidFill>
                  <a:srgbClr val="222222"/>
                </a:solidFill>
                <a:latin typeface="Calibri"/>
              </a:rPr>
              <a:t>month_sin</a:t>
            </a:r>
            <a:r>
              <a:rPr sz="2000" b="0" i="0">
                <a:solidFill>
                  <a:srgbClr val="222222"/>
                </a:solidFill>
                <a:latin typeface="Calibri"/>
              </a:rPr>
              <a:t>, </a:t>
            </a:r>
            <a:r>
              <a:rPr sz="2000" b="0" i="0" err="1">
                <a:solidFill>
                  <a:srgbClr val="222222"/>
                </a:solidFill>
                <a:latin typeface="Calibri"/>
              </a:rPr>
              <a:t>month_cos</a:t>
            </a:r>
            <a:endParaRPr sz="2000" b="0" i="0" err="1">
              <a:solidFill>
                <a:srgbClr val="222222"/>
              </a:solidFill>
              <a:latin typeface="Calibri"/>
              <a:ea typeface="Calibri"/>
              <a:cs typeface="Calibri"/>
            </a:endParaRPr>
          </a:p>
          <a:p>
            <a:pPr lvl="1">
              <a:lnSpc>
                <a:spcPct val="115000"/>
              </a:lnSpc>
              <a:spcAft>
                <a:spcPts val="100"/>
              </a:spcAft>
            </a:pPr>
            <a:r>
              <a:rPr b="0" i="0">
                <a:solidFill>
                  <a:srgbClr val="555555"/>
                </a:solidFill>
                <a:latin typeface="Calibri"/>
              </a:rPr>
              <a:t>–  Cyclical encoding of month-of-year</a:t>
            </a:r>
            <a:endParaRPr b="0" i="0">
              <a:solidFill>
                <a:srgbClr val="555555"/>
              </a:solidFill>
              <a:latin typeface="Calibri"/>
              <a:ea typeface="Calibri"/>
              <a:cs typeface="Calibri"/>
            </a:endParaRPr>
          </a:p>
        </p:txBody>
      </p:sp>
      <p:sp>
        <p:nvSpPr>
          <p:cNvPr id="9" name="TextBox 8"/>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4" name="TextBox 13">
            <a:extLst>
              <a:ext uri="{FF2B5EF4-FFF2-40B4-BE49-F238E27FC236}">
                <a16:creationId xmlns:a16="http://schemas.microsoft.com/office/drawing/2014/main" id="{08D78FBD-10B7-02FD-D22B-0FF85F8402AE}"/>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Key Variables II</a:t>
            </a:r>
          </a:p>
          <a:p>
            <a:pPr algn="l">
              <a:spcBef>
                <a:spcPts val="200"/>
              </a:spcBef>
            </a:pPr>
            <a:r>
              <a:rPr sz="1600" b="0" i="1">
                <a:solidFill>
                  <a:srgbClr val="555555"/>
                </a:solidFill>
                <a:latin typeface="Calibri"/>
              </a:rPr>
              <a:t>Google Trends signals + lag / engineered features</a:t>
            </a:r>
            <a:endParaRPr sz="1600" b="0" i="1">
              <a:solidFill>
                <a:srgbClr val="555555"/>
              </a:solidFill>
              <a:latin typeface="Calibri"/>
              <a:ea typeface="Calibri"/>
              <a:cs typeface="Calibri"/>
            </a:endParaRP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25880"/>
            <a:ext cx="4151906" cy="353943"/>
          </a:xfrm>
          <a:prstGeom prst="rect">
            <a:avLst/>
          </a:prstGeom>
          <a:noFill/>
        </p:spPr>
        <p:txBody>
          <a:bodyPr wrap="none" lIns="45720" tIns="0" rIns="91440" bIns="45720" anchor="t">
            <a:spAutoFit/>
          </a:bodyPr>
          <a:lstStyle/>
          <a:p>
            <a:r>
              <a:rPr sz="2000" b="1" i="0">
                <a:solidFill>
                  <a:srgbClr val="1F497D"/>
                </a:solidFill>
                <a:latin typeface="Calibri"/>
              </a:rPr>
              <a:t>Google Trends (search interest 0–100)</a:t>
            </a:r>
          </a:p>
        </p:txBody>
      </p:sp>
      <p:sp>
        <p:nvSpPr>
          <p:cNvPr id="6" name="TextBox 5"/>
          <p:cNvSpPr txBox="1"/>
          <p:nvPr/>
        </p:nvSpPr>
        <p:spPr>
          <a:xfrm>
            <a:off x="502920" y="1783080"/>
            <a:ext cx="5440680" cy="3128549"/>
          </a:xfrm>
          <a:prstGeom prst="rect">
            <a:avLst/>
          </a:prstGeom>
          <a:noFill/>
        </p:spPr>
        <p:txBody>
          <a:bodyPr wrap="square" lIns="45720" tIns="45720" rIns="91440" bIns="45720" anchor="t">
            <a:spAutoFit/>
          </a:bodyPr>
          <a:lstStyle/>
          <a:p>
            <a:pPr>
              <a:lnSpc>
                <a:spcPct val="118000"/>
              </a:lnSpc>
              <a:spcAft>
                <a:spcPts val="300"/>
              </a:spcAft>
            </a:pPr>
            <a:r>
              <a:rPr sz="2000" b="1" i="0">
                <a:solidFill>
                  <a:srgbClr val="1F497D"/>
                </a:solidFill>
                <a:latin typeface="Calibri"/>
              </a:rPr>
              <a:t>•  </a:t>
            </a:r>
            <a:r>
              <a:rPr sz="2000" b="0" i="0" err="1">
                <a:solidFill>
                  <a:srgbClr val="222222"/>
                </a:solidFill>
                <a:latin typeface="Calibri"/>
              </a:rPr>
              <a:t>los_angeles_museums</a:t>
            </a:r>
            <a:r>
              <a:rPr sz="2000" b="0" i="0">
                <a:solidFill>
                  <a:srgbClr val="222222"/>
                </a:solidFill>
                <a:latin typeface="Calibri"/>
              </a:rPr>
              <a:t>, </a:t>
            </a:r>
            <a:r>
              <a:rPr sz="2000" b="0" i="0" err="1">
                <a:solidFill>
                  <a:srgbClr val="222222"/>
                </a:solidFill>
                <a:latin typeface="Calibri"/>
              </a:rPr>
              <a:t>los_angeles_attractions</a:t>
            </a:r>
            <a:endParaRPr lang="en-US" sz="2000" b="0" i="0" err="1">
              <a:solidFill>
                <a:srgbClr val="222222"/>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err="1">
                <a:solidFill>
                  <a:srgbClr val="222222"/>
                </a:solidFill>
                <a:latin typeface="Calibri"/>
              </a:rPr>
              <a:t>things_to_do_in_la</a:t>
            </a:r>
            <a:r>
              <a:rPr sz="2000" b="0" i="0">
                <a:solidFill>
                  <a:srgbClr val="222222"/>
                </a:solidFill>
                <a:latin typeface="Calibri"/>
              </a:rPr>
              <a:t>, </a:t>
            </a:r>
            <a:r>
              <a:rPr sz="2000" b="0" i="0" err="1">
                <a:solidFill>
                  <a:srgbClr val="222222"/>
                </a:solidFill>
                <a:latin typeface="Calibri"/>
              </a:rPr>
              <a:t>things_to_do_in_la_in_february</a:t>
            </a:r>
            <a:endParaRPr sz="2000" b="0" i="0" err="1">
              <a:solidFill>
                <a:srgbClr val="222222"/>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err="1">
                <a:solidFill>
                  <a:srgbClr val="222222"/>
                </a:solidFill>
                <a:latin typeface="Calibri"/>
              </a:rPr>
              <a:t>family_activities_los_angeles</a:t>
            </a:r>
            <a:endParaRPr sz="2000" b="0" i="0" err="1">
              <a:solidFill>
                <a:srgbClr val="222222"/>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err="1">
                <a:solidFill>
                  <a:srgbClr val="222222"/>
                </a:solidFill>
                <a:latin typeface="Calibri"/>
              </a:rPr>
              <a:t>olvera_street</a:t>
            </a:r>
            <a:r>
              <a:rPr sz="2000" b="0" i="0">
                <a:solidFill>
                  <a:srgbClr val="222222"/>
                </a:solidFill>
                <a:latin typeface="Calibri"/>
              </a:rPr>
              <a:t>, </a:t>
            </a:r>
            <a:r>
              <a:rPr sz="2000" b="0" i="0" err="1">
                <a:solidFill>
                  <a:srgbClr val="222222"/>
                </a:solidFill>
                <a:latin typeface="Calibri"/>
              </a:rPr>
              <a:t>los_angeles_history</a:t>
            </a:r>
            <a:r>
              <a:rPr sz="2000" b="0" i="0">
                <a:solidFill>
                  <a:srgbClr val="222222"/>
                </a:solidFill>
                <a:latin typeface="Calibri"/>
              </a:rPr>
              <a:t>, </a:t>
            </a:r>
            <a:r>
              <a:rPr sz="2000" b="0" i="0" err="1">
                <a:solidFill>
                  <a:srgbClr val="222222"/>
                </a:solidFill>
                <a:latin typeface="Calibri"/>
              </a:rPr>
              <a:t>el_pueblo_los_angeles</a:t>
            </a:r>
            <a:endParaRPr sz="2000" b="0" i="0" err="1">
              <a:solidFill>
                <a:srgbClr val="222222"/>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a:solidFill>
                  <a:srgbClr val="222222"/>
                </a:solidFill>
                <a:latin typeface="Calibri"/>
              </a:rPr>
              <a:t>Benchmarks: </a:t>
            </a:r>
            <a:r>
              <a:rPr sz="2000" b="0" i="0" err="1">
                <a:solidFill>
                  <a:srgbClr val="222222"/>
                </a:solidFill>
                <a:latin typeface="Calibri"/>
              </a:rPr>
              <a:t>getty_museum</a:t>
            </a:r>
            <a:r>
              <a:rPr sz="2000" b="0" i="0">
                <a:solidFill>
                  <a:srgbClr val="222222"/>
                </a:solidFill>
                <a:latin typeface="Calibri"/>
              </a:rPr>
              <a:t>, </a:t>
            </a:r>
            <a:r>
              <a:rPr sz="2000" b="0" i="0" err="1">
                <a:solidFill>
                  <a:srgbClr val="222222"/>
                </a:solidFill>
                <a:latin typeface="Calibri"/>
              </a:rPr>
              <a:t>griffith_observatory</a:t>
            </a:r>
            <a:r>
              <a:rPr sz="2000" b="0" i="0">
                <a:solidFill>
                  <a:srgbClr val="222222"/>
                </a:solidFill>
                <a:latin typeface="Calibri"/>
              </a:rPr>
              <a:t>, </a:t>
            </a:r>
            <a:r>
              <a:rPr sz="2000" b="0" i="0" err="1">
                <a:solidFill>
                  <a:srgbClr val="222222"/>
                </a:solidFill>
                <a:latin typeface="Calibri"/>
              </a:rPr>
              <a:t>la_brea_tar_pits</a:t>
            </a:r>
            <a:endParaRPr sz="2000" b="0" i="0" err="1">
              <a:solidFill>
                <a:srgbClr val="222222"/>
              </a:solidFill>
              <a:latin typeface="Calibri"/>
              <a:ea typeface="Calibri"/>
              <a:cs typeface="Calibri"/>
            </a:endParaRPr>
          </a:p>
        </p:txBody>
      </p:sp>
      <p:sp>
        <p:nvSpPr>
          <p:cNvPr id="7" name="TextBox 6"/>
          <p:cNvSpPr txBox="1"/>
          <p:nvPr/>
        </p:nvSpPr>
        <p:spPr>
          <a:xfrm>
            <a:off x="6217920" y="1325880"/>
            <a:ext cx="2863797" cy="353943"/>
          </a:xfrm>
          <a:prstGeom prst="rect">
            <a:avLst/>
          </a:prstGeom>
          <a:noFill/>
        </p:spPr>
        <p:txBody>
          <a:bodyPr wrap="none" lIns="45720" tIns="0" rIns="91440" bIns="45720" anchor="t">
            <a:spAutoFit/>
          </a:bodyPr>
          <a:lstStyle/>
          <a:p>
            <a:r>
              <a:rPr sz="2000" b="1" i="0">
                <a:solidFill>
                  <a:srgbClr val="1F497D"/>
                </a:solidFill>
                <a:latin typeface="Calibri"/>
              </a:rPr>
              <a:t>Lag / engineered features</a:t>
            </a:r>
          </a:p>
        </p:txBody>
      </p:sp>
      <p:sp>
        <p:nvSpPr>
          <p:cNvPr id="8" name="TextBox 7"/>
          <p:cNvSpPr txBox="1"/>
          <p:nvPr/>
        </p:nvSpPr>
        <p:spPr>
          <a:xfrm>
            <a:off x="6217920" y="1783080"/>
            <a:ext cx="5440680" cy="3629968"/>
          </a:xfrm>
          <a:prstGeom prst="rect">
            <a:avLst/>
          </a:prstGeom>
          <a:noFill/>
        </p:spPr>
        <p:txBody>
          <a:bodyPr wrap="square" lIns="45720" tIns="45720" rIns="91440" bIns="45720" anchor="t">
            <a:spAutoFit/>
          </a:bodyPr>
          <a:lstStyle/>
          <a:p>
            <a:pPr>
              <a:lnSpc>
                <a:spcPct val="118000"/>
              </a:lnSpc>
              <a:spcAft>
                <a:spcPts val="300"/>
              </a:spcAft>
            </a:pPr>
            <a:r>
              <a:rPr sz="2000" b="1" i="0">
                <a:solidFill>
                  <a:srgbClr val="1F497D"/>
                </a:solidFill>
                <a:latin typeface="Calibri"/>
              </a:rPr>
              <a:t>•  </a:t>
            </a:r>
            <a:r>
              <a:rPr sz="2000" b="0" i="0">
                <a:solidFill>
                  <a:srgbClr val="222222"/>
                </a:solidFill>
                <a:latin typeface="Calibri"/>
              </a:rPr>
              <a:t>visitors_lag1</a:t>
            </a:r>
          </a:p>
          <a:p>
            <a:pPr lvl="1">
              <a:lnSpc>
                <a:spcPct val="115000"/>
              </a:lnSpc>
              <a:spcAft>
                <a:spcPts val="100"/>
              </a:spcAft>
            </a:pPr>
            <a:r>
              <a:rPr b="0" i="0">
                <a:solidFill>
                  <a:srgbClr val="555555"/>
                </a:solidFill>
                <a:latin typeface="Calibri"/>
              </a:rPr>
              <a:t>–  Last month's visitor count</a:t>
            </a:r>
            <a:r>
              <a:rPr lang="en-US">
                <a:solidFill>
                  <a:srgbClr val="555555"/>
                </a:solidFill>
                <a:latin typeface="Calibri"/>
              </a:rPr>
              <a:t>— strongest signal in our model</a:t>
            </a:r>
            <a:endParaRPr b="0" i="0">
              <a:solidFill>
                <a:srgbClr val="555555"/>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a:solidFill>
                  <a:srgbClr val="222222"/>
                </a:solidFill>
                <a:latin typeface="Calibri"/>
              </a:rPr>
              <a:t>visitors_lag12</a:t>
            </a:r>
            <a:endParaRPr sz="2000" b="0" i="0">
              <a:solidFill>
                <a:srgbClr val="222222"/>
              </a:solidFill>
              <a:latin typeface="Calibri"/>
              <a:ea typeface="Calibri"/>
              <a:cs typeface="Calibri"/>
            </a:endParaRPr>
          </a:p>
          <a:p>
            <a:pPr lvl="1">
              <a:lnSpc>
                <a:spcPct val="115000"/>
              </a:lnSpc>
              <a:spcAft>
                <a:spcPts val="100"/>
              </a:spcAft>
            </a:pPr>
            <a:r>
              <a:rPr b="0" i="0" dirty="0">
                <a:solidFill>
                  <a:srgbClr val="555555"/>
                </a:solidFill>
                <a:latin typeface="Calibri"/>
              </a:rPr>
              <a:t>–  Same month, prior year — captures annual </a:t>
            </a:r>
            <a:r>
              <a:rPr b="0" i="0">
                <a:solidFill>
                  <a:srgbClr val="555555"/>
                </a:solidFill>
                <a:latin typeface="Calibri"/>
              </a:rPr>
              <a:t>seasonality</a:t>
            </a:r>
            <a:r>
              <a:rPr lang="en-US">
                <a:solidFill>
                  <a:srgbClr val="555555"/>
                </a:solidFill>
                <a:latin typeface="Calibri"/>
              </a:rPr>
              <a:t> </a:t>
            </a:r>
            <a:endParaRPr b="0" i="0">
              <a:solidFill>
                <a:srgbClr val="555555"/>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a:solidFill>
                  <a:srgbClr val="222222"/>
                </a:solidFill>
                <a:latin typeface="Calibri"/>
              </a:rPr>
              <a:t>rolling_mean_3</a:t>
            </a:r>
            <a:endParaRPr sz="2000" b="0" i="0">
              <a:solidFill>
                <a:srgbClr val="222222"/>
              </a:solidFill>
              <a:latin typeface="Calibri"/>
              <a:ea typeface="Calibri"/>
              <a:cs typeface="Calibri"/>
            </a:endParaRPr>
          </a:p>
          <a:p>
            <a:pPr lvl="1">
              <a:lnSpc>
                <a:spcPct val="115000"/>
              </a:lnSpc>
              <a:spcAft>
                <a:spcPts val="100"/>
              </a:spcAft>
            </a:pPr>
            <a:r>
              <a:rPr b="0" i="0">
                <a:solidFill>
                  <a:srgbClr val="555555"/>
                </a:solidFill>
                <a:latin typeface="Calibri"/>
              </a:rPr>
              <a:t>–  3-month trailing average</a:t>
            </a:r>
            <a:endParaRPr b="0" i="0">
              <a:solidFill>
                <a:srgbClr val="555555"/>
              </a:solidFill>
              <a:latin typeface="Calibri"/>
              <a:ea typeface="Calibri"/>
              <a:cs typeface="Calibri"/>
            </a:endParaRPr>
          </a:p>
          <a:p>
            <a:pPr>
              <a:lnSpc>
                <a:spcPct val="118000"/>
              </a:lnSpc>
              <a:spcAft>
                <a:spcPts val="300"/>
              </a:spcAft>
            </a:pPr>
            <a:r>
              <a:rPr sz="2000" b="1" i="0" dirty="0">
                <a:solidFill>
                  <a:srgbClr val="1F497D"/>
                </a:solidFill>
                <a:latin typeface="Calibri"/>
              </a:rPr>
              <a:t>•  </a:t>
            </a:r>
            <a:r>
              <a:rPr sz="2000" b="0" i="0" dirty="0" err="1">
                <a:solidFill>
                  <a:srgbClr val="222222"/>
                </a:solidFill>
                <a:latin typeface="Calibri"/>
              </a:rPr>
              <a:t>la_event_season</a:t>
            </a:r>
            <a:r>
              <a:rPr sz="2000" b="0" i="0" dirty="0">
                <a:solidFill>
                  <a:srgbClr val="222222"/>
                </a:solidFill>
                <a:latin typeface="Calibri"/>
              </a:rPr>
              <a:t>, </a:t>
            </a:r>
            <a:r>
              <a:rPr sz="2000" b="0" i="0" dirty="0" err="1">
                <a:solidFill>
                  <a:srgbClr val="222222"/>
                </a:solidFill>
                <a:latin typeface="Calibri"/>
              </a:rPr>
              <a:t>school_year_month</a:t>
            </a:r>
            <a:endParaRPr sz="2000" b="0" i="0" dirty="0" err="1">
              <a:solidFill>
                <a:srgbClr val="222222"/>
              </a:solidFill>
              <a:latin typeface="Calibri"/>
              <a:ea typeface="Calibri"/>
              <a:cs typeface="Calibri"/>
            </a:endParaRPr>
          </a:p>
          <a:p>
            <a:pPr lvl="1">
              <a:lnSpc>
                <a:spcPct val="115000"/>
              </a:lnSpc>
              <a:spcAft>
                <a:spcPts val="100"/>
              </a:spcAft>
            </a:pPr>
            <a:r>
              <a:rPr b="0" i="0">
                <a:solidFill>
                  <a:srgbClr val="555555"/>
                </a:solidFill>
                <a:latin typeface="Calibri"/>
              </a:rPr>
              <a:t>–  Domain-specific behavioral cycles</a:t>
            </a:r>
            <a:endParaRPr b="0" i="0">
              <a:solidFill>
                <a:srgbClr val="555555"/>
              </a:solidFill>
              <a:latin typeface="Calibri"/>
              <a:ea typeface="Calibri"/>
              <a:cs typeface="Calibri"/>
            </a:endParaRPr>
          </a:p>
        </p:txBody>
      </p:sp>
      <p:sp>
        <p:nvSpPr>
          <p:cNvPr id="9" name="TextBox 8"/>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2" name="TextBox 11">
            <a:extLst>
              <a:ext uri="{FF2B5EF4-FFF2-40B4-BE49-F238E27FC236}">
                <a16:creationId xmlns:a16="http://schemas.microsoft.com/office/drawing/2014/main" id="{D2B48F6A-3FB6-1156-6C74-218B393CF5BE}"/>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Google Trends — Top Terms 2014–2026</a:t>
            </a:r>
          </a:p>
          <a:p>
            <a:pPr algn="l">
              <a:spcBef>
                <a:spcPts val="200"/>
              </a:spcBef>
            </a:pPr>
            <a:r>
              <a:rPr sz="1600" b="0" i="1">
                <a:solidFill>
                  <a:srgbClr val="555555"/>
                </a:solidFill>
                <a:latin typeface="Calibri"/>
              </a:rPr>
              <a:t>Long-horizon view of the top collected search terms</a:t>
            </a:r>
            <a:endParaRPr sz="1600" b="0" i="1">
              <a:solidFill>
                <a:srgbClr val="555555"/>
              </a:solidFill>
              <a:latin typeface="Calibri"/>
              <a:ea typeface="Calibri"/>
              <a:cs typeface="Calibri"/>
            </a:endParaRP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op_terms_scatter_2014_2026.png"/>
          <p:cNvPicPr>
            <a:picLocks noChangeAspect="1"/>
          </p:cNvPicPr>
          <p:nvPr/>
        </p:nvPicPr>
        <p:blipFill>
          <a:blip r:embed="rId3"/>
          <a:stretch>
            <a:fillRect/>
          </a:stretch>
        </p:blipFill>
        <p:spPr>
          <a:xfrm>
            <a:off x="2277926" y="1325880"/>
            <a:ext cx="7635842" cy="5029200"/>
          </a:xfrm>
          <a:prstGeom prst="rect">
            <a:avLst/>
          </a:prstGeom>
        </p:spPr>
      </p:pic>
      <p:sp>
        <p:nvSpPr>
          <p:cNvPr id="6" name="TextBox 5"/>
          <p:cNvSpPr txBox="1"/>
          <p:nvPr/>
        </p:nvSpPr>
        <p:spPr>
          <a:xfrm>
            <a:off x="502920" y="6263640"/>
            <a:ext cx="11155680" cy="274320"/>
          </a:xfrm>
          <a:prstGeom prst="rect">
            <a:avLst/>
          </a:prstGeom>
          <a:noFill/>
        </p:spPr>
        <p:txBody>
          <a:bodyPr wrap="none" lIns="0" tIns="0" rIns="0" bIns="0">
            <a:spAutoFit/>
          </a:bodyPr>
          <a:lstStyle/>
          <a:p>
            <a:pPr algn="ctr"/>
            <a:r>
              <a:rPr sz="1100" b="0" i="1">
                <a:solidFill>
                  <a:srgbClr val="8C8C8C"/>
                </a:solidFill>
                <a:latin typeface="Calibri"/>
              </a:rPr>
              <a:t>outputs/plots/google_trends_marketing/google-trends-marketing-v6/top_terms_scatter_2014_2026.png</a:t>
            </a:r>
          </a:p>
        </p:txBody>
      </p:sp>
      <p:sp>
        <p:nvSpPr>
          <p:cNvPr id="7" name="TextBox 6"/>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0" name="TextBox 9">
            <a:extLst>
              <a:ext uri="{FF2B5EF4-FFF2-40B4-BE49-F238E27FC236}">
                <a16:creationId xmlns:a16="http://schemas.microsoft.com/office/drawing/2014/main" id="{7E46194F-0FDE-CD6A-1FEC-34B378E61DFE}"/>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Google Trends — All Terms in Dataset Window</a:t>
            </a:r>
          </a:p>
          <a:p>
            <a:pPr algn="l">
              <a:spcBef>
                <a:spcPts val="200"/>
              </a:spcBef>
            </a:pPr>
            <a:r>
              <a:rPr sz="1600" b="0" i="1">
                <a:solidFill>
                  <a:srgbClr val="555555"/>
                </a:solidFill>
                <a:latin typeface="Calibri"/>
              </a:rPr>
              <a:t>40 terms with real data inside the 2014–2021 modeling window</a:t>
            </a:r>
            <a:endParaRPr sz="1600" b="0" i="1">
              <a:solidFill>
                <a:srgbClr val="555555"/>
              </a:solidFill>
              <a:latin typeface="Calibri"/>
              <a:ea typeface="Calibri"/>
              <a:cs typeface="Calibri"/>
            </a:endParaRP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ll_terms_scatter_2014_2021_by_term.png"/>
          <p:cNvPicPr>
            <a:picLocks noChangeAspect="1"/>
          </p:cNvPicPr>
          <p:nvPr/>
        </p:nvPicPr>
        <p:blipFill>
          <a:blip r:embed="rId3"/>
          <a:stretch>
            <a:fillRect/>
          </a:stretch>
        </p:blipFill>
        <p:spPr>
          <a:xfrm>
            <a:off x="4067033" y="1325880"/>
            <a:ext cx="4057628" cy="5029200"/>
          </a:xfrm>
          <a:prstGeom prst="rect">
            <a:avLst/>
          </a:prstGeom>
        </p:spPr>
      </p:pic>
      <p:sp>
        <p:nvSpPr>
          <p:cNvPr id="6" name="TextBox 5"/>
          <p:cNvSpPr txBox="1"/>
          <p:nvPr/>
        </p:nvSpPr>
        <p:spPr>
          <a:xfrm>
            <a:off x="502920" y="6263640"/>
            <a:ext cx="11155680" cy="274320"/>
          </a:xfrm>
          <a:prstGeom prst="rect">
            <a:avLst/>
          </a:prstGeom>
          <a:noFill/>
        </p:spPr>
        <p:txBody>
          <a:bodyPr wrap="none" lIns="0" tIns="0" rIns="0" bIns="0">
            <a:spAutoFit/>
          </a:bodyPr>
          <a:lstStyle/>
          <a:p>
            <a:pPr algn="ctr"/>
            <a:r>
              <a:rPr sz="1100" b="0" i="1">
                <a:solidFill>
                  <a:srgbClr val="8C8C8C"/>
                </a:solidFill>
                <a:latin typeface="Calibri"/>
              </a:rPr>
              <a:t>outputs/plots/google_trends_marketing/google-trends-marketing-v6/all_terms_scatter_2014_2021_by_term.png</a:t>
            </a:r>
          </a:p>
        </p:txBody>
      </p:sp>
      <p:sp>
        <p:nvSpPr>
          <p:cNvPr id="7" name="TextBox 6"/>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0" name="TextBox 9">
            <a:extLst>
              <a:ext uri="{FF2B5EF4-FFF2-40B4-BE49-F238E27FC236}">
                <a16:creationId xmlns:a16="http://schemas.microsoft.com/office/drawing/2014/main" id="{07440554-FD18-380D-D87C-B418D19D2808}"/>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Google Trends — Theme Opportunity Scores</a:t>
            </a:r>
          </a:p>
          <a:p>
            <a:pPr algn="l">
              <a:spcBef>
                <a:spcPts val="200"/>
              </a:spcBef>
            </a:pPr>
            <a:r>
              <a:rPr sz="1600" b="0" i="1">
                <a:solidFill>
                  <a:srgbClr val="555555"/>
                </a:solidFill>
                <a:latin typeface="Calibri"/>
              </a:rPr>
              <a:t>Which thematic groupings carry the highest marketing opportunity</a:t>
            </a:r>
            <a:endParaRPr sz="1600" b="0" i="1">
              <a:solidFill>
                <a:srgbClr val="555555"/>
              </a:solidFill>
              <a:latin typeface="Calibri"/>
              <a:ea typeface="Calibri"/>
              <a:cs typeface="Calibri"/>
            </a:endParaRP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heme_opportunity_scores.png"/>
          <p:cNvPicPr>
            <a:picLocks noChangeAspect="1"/>
          </p:cNvPicPr>
          <p:nvPr/>
        </p:nvPicPr>
        <p:blipFill>
          <a:blip r:embed="rId3"/>
          <a:stretch>
            <a:fillRect/>
          </a:stretch>
        </p:blipFill>
        <p:spPr>
          <a:xfrm>
            <a:off x="1485748" y="1325880"/>
            <a:ext cx="9220199" cy="5029200"/>
          </a:xfrm>
          <a:prstGeom prst="rect">
            <a:avLst/>
          </a:prstGeom>
        </p:spPr>
      </p:pic>
      <p:sp>
        <p:nvSpPr>
          <p:cNvPr id="6" name="TextBox 5"/>
          <p:cNvSpPr txBox="1"/>
          <p:nvPr/>
        </p:nvSpPr>
        <p:spPr>
          <a:xfrm>
            <a:off x="502920" y="6263640"/>
            <a:ext cx="11155680" cy="274320"/>
          </a:xfrm>
          <a:prstGeom prst="rect">
            <a:avLst/>
          </a:prstGeom>
          <a:noFill/>
        </p:spPr>
        <p:txBody>
          <a:bodyPr wrap="none" lIns="0" tIns="0" rIns="0" bIns="0">
            <a:spAutoFit/>
          </a:bodyPr>
          <a:lstStyle/>
          <a:p>
            <a:pPr algn="ctr"/>
            <a:r>
              <a:rPr sz="1100" b="0" i="1">
                <a:solidFill>
                  <a:srgbClr val="8C8C8C"/>
                </a:solidFill>
                <a:latin typeface="Calibri"/>
              </a:rPr>
              <a:t>outputs/plots/google_trends_marketing/google-trends-marketing-v6/theme_opportunity_scores.png</a:t>
            </a:r>
          </a:p>
        </p:txBody>
      </p:sp>
      <p:sp>
        <p:nvSpPr>
          <p:cNvPr id="7" name="TextBox 6"/>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2" name="TextBox 11">
            <a:extLst>
              <a:ext uri="{FF2B5EF4-FFF2-40B4-BE49-F238E27FC236}">
                <a16:creationId xmlns:a16="http://schemas.microsoft.com/office/drawing/2014/main" id="{7775B4BB-BFFB-391A-A841-2581AEBBE23D}"/>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Top Search Terms vs Avila Visitors</a:t>
            </a:r>
          </a:p>
          <a:p>
            <a:pPr algn="l">
              <a:spcBef>
                <a:spcPts val="200"/>
              </a:spcBef>
            </a:pPr>
            <a:r>
              <a:rPr sz="1600" b="0" i="1">
                <a:solidFill>
                  <a:srgbClr val="555555"/>
                </a:solidFill>
                <a:latin typeface="Calibri"/>
              </a:rPr>
              <a:t>Best trend match — search interest tracks visitation (min-max scaled)</a:t>
            </a:r>
            <a:endParaRPr sz="1600" b="0" i="1">
              <a:solidFill>
                <a:srgbClr val="555555"/>
              </a:solidFill>
              <a:latin typeface="Calibri"/>
              <a:ea typeface="Calibri"/>
              <a:cs typeface="Calibri"/>
            </a:endParaRP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vila_vs_top_trends_scaled.png"/>
          <p:cNvPicPr>
            <a:picLocks noChangeAspect="1"/>
          </p:cNvPicPr>
          <p:nvPr/>
        </p:nvPicPr>
        <p:blipFill>
          <a:blip r:embed="rId3"/>
          <a:stretch>
            <a:fillRect/>
          </a:stretch>
        </p:blipFill>
        <p:spPr>
          <a:xfrm>
            <a:off x="600487" y="1325880"/>
            <a:ext cx="10990720" cy="5029200"/>
          </a:xfrm>
          <a:prstGeom prst="rect">
            <a:avLst/>
          </a:prstGeom>
        </p:spPr>
      </p:pic>
      <p:sp>
        <p:nvSpPr>
          <p:cNvPr id="6" name="TextBox 5"/>
          <p:cNvSpPr txBox="1"/>
          <p:nvPr/>
        </p:nvSpPr>
        <p:spPr>
          <a:xfrm>
            <a:off x="502920" y="6263640"/>
            <a:ext cx="11155680" cy="274320"/>
          </a:xfrm>
          <a:prstGeom prst="rect">
            <a:avLst/>
          </a:prstGeom>
          <a:noFill/>
        </p:spPr>
        <p:txBody>
          <a:bodyPr wrap="none" lIns="0" tIns="0" rIns="0" bIns="0">
            <a:spAutoFit/>
          </a:bodyPr>
          <a:lstStyle/>
          <a:p>
            <a:pPr algn="ctr"/>
            <a:r>
              <a:rPr sz="1100" b="0" i="1">
                <a:solidFill>
                  <a:srgbClr val="8C8C8C"/>
                </a:solidFill>
                <a:latin typeface="Calibri"/>
              </a:rPr>
              <a:t>outputs/plots/google_trends_marketing/google-trends-marketing-v6/avila_vs_top_trends_scaled.png</a:t>
            </a:r>
          </a:p>
        </p:txBody>
      </p:sp>
      <p:sp>
        <p:nvSpPr>
          <p:cNvPr id="7" name="TextBox 6"/>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0" name="TextBox 9">
            <a:extLst>
              <a:ext uri="{FF2B5EF4-FFF2-40B4-BE49-F238E27FC236}">
                <a16:creationId xmlns:a16="http://schemas.microsoft.com/office/drawing/2014/main" id="{7132EEB2-98C8-AA0D-8A83-13BF75DB9F86}"/>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02756"/>
          </a:xfrm>
          <a:prstGeom prst="rect">
            <a:avLst/>
          </a:prstGeom>
          <a:noFill/>
        </p:spPr>
        <p:txBody>
          <a:bodyPr wrap="square" lIns="0" tIns="0" rIns="0" bIns="0" anchor="t">
            <a:spAutoFit/>
          </a:bodyPr>
          <a:lstStyle/>
          <a:p>
            <a:r>
              <a:rPr sz="3000" b="1" i="0">
                <a:solidFill>
                  <a:srgbClr val="1F497D"/>
                </a:solidFill>
                <a:latin typeface="Calibri"/>
              </a:rPr>
              <a:t>Modeling Approach — Why </a:t>
            </a:r>
            <a:r>
              <a:rPr lang="en-US" sz="3000" b="1">
                <a:solidFill>
                  <a:srgbClr val="1F497D"/>
                </a:solidFill>
                <a:latin typeface="Calibri"/>
              </a:rPr>
              <a:t>LASSO-Won</a:t>
            </a:r>
            <a:endParaRPr sz="3000" b="1" i="0">
              <a:solidFill>
                <a:srgbClr val="1F497D"/>
              </a:solidFill>
              <a:latin typeface="Calibri"/>
            </a:endParaRPr>
          </a:p>
          <a:p>
            <a:pPr algn="l">
              <a:spcBef>
                <a:spcPts val="200"/>
              </a:spcBef>
            </a:pPr>
            <a:r>
              <a:rPr sz="1400" b="0" i="1">
                <a:solidFill>
                  <a:srgbClr val="555555"/>
                </a:solidFill>
                <a:latin typeface="Calibri"/>
              </a:rPr>
              <a:t>Correlated predictors broke linear regression; L1 regularization fixed it</a:t>
            </a: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25880"/>
            <a:ext cx="11155680" cy="4137479"/>
          </a:xfrm>
          <a:prstGeom prst="rect">
            <a:avLst/>
          </a:prstGeom>
          <a:noFill/>
        </p:spPr>
        <p:txBody>
          <a:bodyPr wrap="square" lIns="45720" tIns="45720" rIns="45720" bIns="45720" anchor="t">
            <a:spAutoFit/>
          </a:bodyPr>
          <a:lstStyle/>
          <a:p>
            <a:pPr>
              <a:lnSpc>
                <a:spcPct val="118000"/>
              </a:lnSpc>
              <a:spcAft>
                <a:spcPts val="400"/>
              </a:spcAft>
            </a:pPr>
            <a:r>
              <a:rPr sz="2000" b="1" i="0">
                <a:solidFill>
                  <a:srgbClr val="1F497D"/>
                </a:solidFill>
                <a:latin typeface="Calibri"/>
              </a:rPr>
              <a:t>•  </a:t>
            </a:r>
            <a:r>
              <a:rPr sz="2000" b="0" i="0">
                <a:solidFill>
                  <a:srgbClr val="222222"/>
                </a:solidFill>
                <a:latin typeface="Calibri"/>
              </a:rPr>
              <a:t>Final dataset had a large, redundant predictor pool</a:t>
            </a:r>
          </a:p>
          <a:p>
            <a:pPr lvl="1">
              <a:lnSpc>
                <a:spcPct val="118000"/>
              </a:lnSpc>
              <a:spcAft>
                <a:spcPts val="200"/>
              </a:spcAft>
            </a:pPr>
            <a:r>
              <a:rPr b="0" i="0">
                <a:solidFill>
                  <a:srgbClr val="555555"/>
                </a:solidFill>
                <a:latin typeface="Calibri"/>
              </a:rPr>
              <a:t>–  Many Google Trends terms moved together (e.g. 'things to do in LA' vs 'things to do in Los Angeles')</a:t>
            </a:r>
            <a:endParaRPr b="0" i="0">
              <a:solidFill>
                <a:srgbClr val="555555"/>
              </a:solidFill>
              <a:latin typeface="Calibri"/>
              <a:ea typeface="Calibri"/>
              <a:cs typeface="Calibri"/>
            </a:endParaRPr>
          </a:p>
          <a:p>
            <a:pPr lvl="1">
              <a:lnSpc>
                <a:spcPct val="118000"/>
              </a:lnSpc>
              <a:spcAft>
                <a:spcPts val="200"/>
              </a:spcAft>
            </a:pPr>
            <a:r>
              <a:rPr b="0" i="0">
                <a:solidFill>
                  <a:srgbClr val="555555"/>
                </a:solidFill>
                <a:latin typeface="Calibri"/>
              </a:rPr>
              <a:t>–  Weather variables overlapped (</a:t>
            </a:r>
            <a:r>
              <a:rPr b="0" i="0" err="1">
                <a:solidFill>
                  <a:srgbClr val="555555"/>
                </a:solidFill>
                <a:latin typeface="Calibri"/>
              </a:rPr>
              <a:t>avg_temp_F</a:t>
            </a:r>
            <a:r>
              <a:rPr b="0" i="0">
                <a:solidFill>
                  <a:srgbClr val="555555"/>
                </a:solidFill>
                <a:latin typeface="Calibri"/>
              </a:rPr>
              <a:t>, </a:t>
            </a:r>
            <a:r>
              <a:rPr b="0" i="0" err="1">
                <a:solidFill>
                  <a:srgbClr val="555555"/>
                </a:solidFill>
                <a:latin typeface="Calibri"/>
              </a:rPr>
              <a:t>min_temp_F</a:t>
            </a:r>
            <a:r>
              <a:rPr b="0" i="0">
                <a:solidFill>
                  <a:srgbClr val="555555"/>
                </a:solidFill>
                <a:latin typeface="Calibri"/>
              </a:rPr>
              <a:t>, </a:t>
            </a:r>
            <a:r>
              <a:rPr b="0" i="0" err="1">
                <a:solidFill>
                  <a:srgbClr val="555555"/>
                </a:solidFill>
                <a:latin typeface="Calibri"/>
              </a:rPr>
              <a:t>max_temp_F</a:t>
            </a:r>
            <a:r>
              <a:rPr b="0" i="0">
                <a:solidFill>
                  <a:srgbClr val="555555"/>
                </a:solidFill>
                <a:latin typeface="Calibri"/>
              </a:rPr>
              <a:t>)</a:t>
            </a:r>
            <a:endParaRPr b="0" i="0">
              <a:solidFill>
                <a:srgbClr val="555555"/>
              </a:solidFill>
              <a:latin typeface="Calibri"/>
              <a:ea typeface="Calibri"/>
              <a:cs typeface="Calibri"/>
            </a:endParaRPr>
          </a:p>
          <a:p>
            <a:pPr lvl="1">
              <a:lnSpc>
                <a:spcPct val="118000"/>
              </a:lnSpc>
              <a:spcAft>
                <a:spcPts val="200"/>
              </a:spcAft>
            </a:pPr>
            <a:r>
              <a:rPr b="0" i="0">
                <a:solidFill>
                  <a:srgbClr val="555555"/>
                </a:solidFill>
                <a:latin typeface="Calibri"/>
              </a:rPr>
              <a:t>–  Multicollinearity destabilized OLS coefficients</a:t>
            </a:r>
            <a:endParaRPr b="0" i="0">
              <a:solidFill>
                <a:srgbClr val="555555"/>
              </a:solidFill>
              <a:latin typeface="Calibri"/>
              <a:ea typeface="Calibri"/>
              <a:cs typeface="Calibri"/>
            </a:endParaRPr>
          </a:p>
          <a:p>
            <a:pPr>
              <a:lnSpc>
                <a:spcPct val="118000"/>
              </a:lnSpc>
              <a:spcAft>
                <a:spcPts val="400"/>
              </a:spcAft>
            </a:pPr>
            <a:r>
              <a:rPr sz="2000" b="1" i="0">
                <a:solidFill>
                  <a:srgbClr val="1F497D"/>
                </a:solidFill>
                <a:latin typeface="Calibri"/>
              </a:rPr>
              <a:t>•  </a:t>
            </a:r>
            <a:r>
              <a:rPr sz="2000" b="0" i="0">
                <a:solidFill>
                  <a:srgbClr val="222222"/>
                </a:solidFill>
                <a:latin typeface="Calibri"/>
              </a:rPr>
              <a:t>Plain Linear Regression collapsed</a:t>
            </a:r>
            <a:endParaRPr sz="2000" b="0" i="0">
              <a:solidFill>
                <a:srgbClr val="222222"/>
              </a:solidFill>
              <a:latin typeface="Calibri"/>
              <a:ea typeface="Calibri"/>
              <a:cs typeface="Calibri"/>
            </a:endParaRPr>
          </a:p>
          <a:p>
            <a:pPr lvl="1">
              <a:lnSpc>
                <a:spcPct val="118000"/>
              </a:lnSpc>
              <a:spcAft>
                <a:spcPts val="200"/>
              </a:spcAft>
            </a:pPr>
            <a:r>
              <a:rPr b="0" i="0">
                <a:solidFill>
                  <a:srgbClr val="555555"/>
                </a:solidFill>
                <a:latin typeface="Calibri"/>
              </a:rPr>
              <a:t>–  R² = -0.879 — worse than predicting the mean</a:t>
            </a:r>
            <a:endParaRPr b="0" i="0">
              <a:solidFill>
                <a:srgbClr val="555555"/>
              </a:solidFill>
              <a:latin typeface="Calibri"/>
              <a:ea typeface="Calibri"/>
              <a:cs typeface="Calibri"/>
            </a:endParaRPr>
          </a:p>
          <a:p>
            <a:pPr>
              <a:lnSpc>
                <a:spcPct val="118000"/>
              </a:lnSpc>
              <a:spcAft>
                <a:spcPts val="400"/>
              </a:spcAft>
            </a:pPr>
            <a:r>
              <a:rPr sz="2000" b="1" i="0">
                <a:solidFill>
                  <a:srgbClr val="1F497D"/>
                </a:solidFill>
                <a:latin typeface="Calibri"/>
              </a:rPr>
              <a:t>•  </a:t>
            </a:r>
            <a:r>
              <a:rPr sz="2000" b="0" i="0">
                <a:solidFill>
                  <a:srgbClr val="222222"/>
                </a:solidFill>
                <a:latin typeface="Calibri"/>
              </a:rPr>
              <a:t>LASSO (L1) and LASSO-LARS shrunk redundant features to zero</a:t>
            </a:r>
            <a:endParaRPr sz="2000" b="0" i="0">
              <a:solidFill>
                <a:srgbClr val="222222"/>
              </a:solidFill>
              <a:latin typeface="Calibri"/>
              <a:ea typeface="Calibri"/>
              <a:cs typeface="Calibri"/>
            </a:endParaRPr>
          </a:p>
          <a:p>
            <a:pPr lvl="1">
              <a:lnSpc>
                <a:spcPct val="118000"/>
              </a:lnSpc>
              <a:spcAft>
                <a:spcPts val="200"/>
              </a:spcAft>
            </a:pPr>
            <a:r>
              <a:rPr b="0" i="0">
                <a:solidFill>
                  <a:srgbClr val="555555"/>
                </a:solidFill>
                <a:latin typeface="Calibri"/>
              </a:rPr>
              <a:t>–  Stable coefficients, much smaller effective feature set</a:t>
            </a:r>
            <a:endParaRPr b="0" i="0">
              <a:solidFill>
                <a:srgbClr val="555555"/>
              </a:solidFill>
              <a:latin typeface="Calibri"/>
              <a:ea typeface="Calibri"/>
              <a:cs typeface="Calibri"/>
            </a:endParaRPr>
          </a:p>
          <a:p>
            <a:pPr lvl="1">
              <a:lnSpc>
                <a:spcPct val="118000"/>
              </a:lnSpc>
              <a:spcAft>
                <a:spcPts val="200"/>
              </a:spcAft>
            </a:pPr>
            <a:r>
              <a:rPr b="0" i="0">
                <a:solidFill>
                  <a:srgbClr val="555555"/>
                </a:solidFill>
                <a:latin typeface="Calibri"/>
              </a:rPr>
              <a:t>–  LASSO-LARS slightly edged LASSO on RMSE</a:t>
            </a:r>
            <a:endParaRPr b="0" i="0">
              <a:solidFill>
                <a:srgbClr val="555555"/>
              </a:solidFill>
              <a:latin typeface="Calibri"/>
              <a:ea typeface="Calibri"/>
              <a:cs typeface="Calibri"/>
            </a:endParaRPr>
          </a:p>
          <a:p>
            <a:pPr>
              <a:lnSpc>
                <a:spcPct val="118000"/>
              </a:lnSpc>
              <a:spcAft>
                <a:spcPts val="400"/>
              </a:spcAft>
            </a:pPr>
            <a:r>
              <a:rPr sz="2000" b="1" i="0">
                <a:solidFill>
                  <a:srgbClr val="1F497D"/>
                </a:solidFill>
                <a:latin typeface="Calibri"/>
              </a:rPr>
              <a:t>•  </a:t>
            </a:r>
            <a:r>
              <a:rPr sz="2000" b="0" i="0">
                <a:solidFill>
                  <a:srgbClr val="222222"/>
                </a:solidFill>
                <a:latin typeface="Calibri"/>
              </a:rPr>
              <a:t>Tree-based models (RF, GB) were middle of the pack</a:t>
            </a:r>
            <a:endParaRPr sz="2000" b="0" i="0">
              <a:solidFill>
                <a:srgbClr val="222222"/>
              </a:solidFill>
              <a:latin typeface="Calibri"/>
              <a:ea typeface="Calibri"/>
              <a:cs typeface="Calibri"/>
            </a:endParaRPr>
          </a:p>
          <a:p>
            <a:pPr lvl="1">
              <a:lnSpc>
                <a:spcPct val="118000"/>
              </a:lnSpc>
              <a:spcAft>
                <a:spcPts val="200"/>
              </a:spcAft>
            </a:pPr>
            <a:r>
              <a:rPr b="0" i="0">
                <a:solidFill>
                  <a:srgbClr val="555555"/>
                </a:solidFill>
                <a:latin typeface="Calibri"/>
              </a:rPr>
              <a:t>–  Useful for sanity-checking importance, but underperformed Lasso</a:t>
            </a:r>
            <a:endParaRPr b="0" i="0">
              <a:solidFill>
                <a:srgbClr val="555555"/>
              </a:solidFill>
              <a:latin typeface="Calibri"/>
              <a:ea typeface="Calibri"/>
              <a:cs typeface="Calibri"/>
            </a:endParaRPr>
          </a:p>
        </p:txBody>
      </p:sp>
      <p:sp>
        <p:nvSpPr>
          <p:cNvPr id="6" name="TextBox 5"/>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9" name="TextBox 8">
            <a:extLst>
              <a:ext uri="{FF2B5EF4-FFF2-40B4-BE49-F238E27FC236}">
                <a16:creationId xmlns:a16="http://schemas.microsoft.com/office/drawing/2014/main" id="{BCF99E05-E553-49E7-47F7-0A5DDDA100EC}"/>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Model Performance Comparison</a:t>
            </a:r>
          </a:p>
          <a:p>
            <a:pPr algn="l">
              <a:spcBef>
                <a:spcPts val="200"/>
              </a:spcBef>
            </a:pPr>
            <a:r>
              <a:rPr sz="1600" b="0" i="1">
                <a:solidFill>
                  <a:srgbClr val="555555"/>
                </a:solidFill>
                <a:latin typeface="Calibri"/>
              </a:rPr>
              <a:t>Time-based holdout — lower RMSE / MAE is better, higher R² is better</a:t>
            </a:r>
            <a:endParaRPr sz="1600" b="0" i="1">
              <a:solidFill>
                <a:srgbClr val="555555"/>
              </a:solidFill>
              <a:latin typeface="Calibri"/>
              <a:ea typeface="Calibri"/>
              <a:cs typeface="Calibri"/>
            </a:endParaRP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5532120"/>
            <a:ext cx="9418320" cy="822960"/>
          </a:xfrm>
          <a:prstGeom prst="rect">
            <a:avLst/>
          </a:prstGeom>
          <a:noFill/>
        </p:spPr>
        <p:txBody>
          <a:bodyPr wrap="square">
            <a:spAutoFit/>
          </a:bodyPr>
          <a:lstStyle/>
          <a:p>
            <a:pPr algn="l"/>
            <a:r>
              <a:rPr sz="1500" b="1" i="0">
                <a:solidFill>
                  <a:srgbClr val="1F497D"/>
                </a:solidFill>
                <a:latin typeface="Calibri"/>
              </a:rPr>
              <a:t>Best model:  </a:t>
            </a:r>
            <a:r>
              <a:rPr sz="1500" b="1" i="0">
                <a:solidFill>
                  <a:srgbClr val="222222"/>
                </a:solidFill>
                <a:latin typeface="Calibri"/>
              </a:rPr>
              <a:t>LASSO-LARS  </a:t>
            </a:r>
            <a:r>
              <a:rPr sz="1500" b="0" i="0">
                <a:solidFill>
                  <a:srgbClr val="222222"/>
                </a:solidFill>
                <a:latin typeface="Calibri"/>
              </a:rPr>
              <a:t>—  RMSE 2,982  |  MAE 2,259  |  R² 0.783</a:t>
            </a:r>
          </a:p>
          <a:p>
            <a:pPr>
              <a:spcBef>
                <a:spcPts val="400"/>
              </a:spcBef>
            </a:pPr>
            <a:r>
              <a:rPr sz="1200" b="0" i="1">
                <a:solidFill>
                  <a:srgbClr val="555555"/>
                </a:solidFill>
                <a:latin typeface="Calibri"/>
              </a:rPr>
              <a:t>Linear Regression's negative R² (–0.879) reflects severe multicollinearity in the raw predictor set; Lasso's feature selection resolves it.</a:t>
            </a:r>
          </a:p>
        </p:txBody>
      </p:sp>
      <p:sp>
        <p:nvSpPr>
          <p:cNvPr id="7" name="TextBox 6"/>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0" name="TextBox 9">
            <a:extLst>
              <a:ext uri="{FF2B5EF4-FFF2-40B4-BE49-F238E27FC236}">
                <a16:creationId xmlns:a16="http://schemas.microsoft.com/office/drawing/2014/main" id="{40EB116D-89E9-6137-38A6-DF4C9D449057}"/>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14</a:t>
            </a:r>
          </a:p>
        </p:txBody>
      </p:sp>
      <p:pic>
        <p:nvPicPr>
          <p:cNvPr id="9" name="Picture 8">
            <a:extLst>
              <a:ext uri="{FF2B5EF4-FFF2-40B4-BE49-F238E27FC236}">
                <a16:creationId xmlns:a16="http://schemas.microsoft.com/office/drawing/2014/main" id="{5CF70A47-CD40-810A-7FF6-B3E9B748C58A}"/>
              </a:ext>
            </a:extLst>
          </p:cNvPr>
          <p:cNvPicPr>
            <a:picLocks noChangeAspect="1"/>
          </p:cNvPicPr>
          <p:nvPr/>
        </p:nvPicPr>
        <p:blipFill>
          <a:blip r:embed="rId3"/>
          <a:stretch>
            <a:fillRect/>
          </a:stretch>
        </p:blipFill>
        <p:spPr>
          <a:xfrm>
            <a:off x="1371600" y="1451861"/>
            <a:ext cx="8940572" cy="364619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descr="A graph of different colored lines&#10;&#10;AI-generated content may be incorrect.">
            <a:extLst>
              <a:ext uri="{FF2B5EF4-FFF2-40B4-BE49-F238E27FC236}">
                <a16:creationId xmlns:a16="http://schemas.microsoft.com/office/drawing/2014/main" id="{5129742F-66E9-67C7-2FB1-6E4A2A5583D5}"/>
              </a:ext>
            </a:extLst>
          </p:cNvPr>
          <p:cNvPicPr>
            <a:picLocks noChangeAspect="1"/>
          </p:cNvPicPr>
          <p:nvPr/>
        </p:nvPicPr>
        <p:blipFill>
          <a:blip r:embed="rId2"/>
          <a:stretch>
            <a:fillRect/>
          </a:stretch>
        </p:blipFill>
        <p:spPr>
          <a:xfrm>
            <a:off x="959788" y="848341"/>
            <a:ext cx="10137269" cy="2822316"/>
          </a:xfrm>
          <a:prstGeom prst="rect">
            <a:avLst/>
          </a:prstGeom>
        </p:spPr>
      </p:pic>
      <p:pic>
        <p:nvPicPr>
          <p:cNvPr id="11" name="Picture 10" descr="A graph of different colored lines&#10;&#10;AI-generated content may be incorrect.">
            <a:extLst>
              <a:ext uri="{FF2B5EF4-FFF2-40B4-BE49-F238E27FC236}">
                <a16:creationId xmlns:a16="http://schemas.microsoft.com/office/drawing/2014/main" id="{862FD703-DF48-6E70-A5C9-4D8C11316CB1}"/>
              </a:ext>
            </a:extLst>
          </p:cNvPr>
          <p:cNvPicPr>
            <a:picLocks noChangeAspect="1"/>
          </p:cNvPicPr>
          <p:nvPr/>
        </p:nvPicPr>
        <p:blipFill>
          <a:blip r:embed="rId3"/>
          <a:stretch>
            <a:fillRect/>
          </a:stretch>
        </p:blipFill>
        <p:spPr>
          <a:xfrm>
            <a:off x="960327" y="3675448"/>
            <a:ext cx="10136189" cy="2982265"/>
          </a:xfrm>
          <a:prstGeom prst="rect">
            <a:avLst/>
          </a:prstGeom>
        </p:spPr>
      </p:pic>
      <p:sp>
        <p:nvSpPr>
          <p:cNvPr id="5" name="TextBox 4">
            <a:extLst>
              <a:ext uri="{FF2B5EF4-FFF2-40B4-BE49-F238E27FC236}">
                <a16:creationId xmlns:a16="http://schemas.microsoft.com/office/drawing/2014/main" id="{0335CB2D-64F5-A704-1672-6E871F5BF359}"/>
              </a:ext>
            </a:extLst>
          </p:cNvPr>
          <p:cNvSpPr txBox="1"/>
          <p:nvPr/>
        </p:nvSpPr>
        <p:spPr>
          <a:xfrm>
            <a:off x="502920" y="320040"/>
            <a:ext cx="11155680" cy="733534"/>
          </a:xfrm>
          <a:prstGeom prst="rect">
            <a:avLst/>
          </a:prstGeom>
          <a:noFill/>
        </p:spPr>
        <p:txBody>
          <a:bodyPr wrap="square" lIns="0" tIns="0" rIns="0" bIns="0" anchor="t">
            <a:spAutoFit/>
          </a:bodyPr>
          <a:lstStyle/>
          <a:p>
            <a:pPr algn="l"/>
            <a:r>
              <a:rPr lang="en-US" sz="3000" b="1">
                <a:solidFill>
                  <a:srgbClr val="1F497D"/>
                </a:solidFill>
                <a:latin typeface="Calibri"/>
              </a:rPr>
              <a:t>LASSO</a:t>
            </a:r>
            <a:r>
              <a:rPr sz="3000" b="1" i="0">
                <a:solidFill>
                  <a:srgbClr val="1F497D"/>
                </a:solidFill>
                <a:latin typeface="Calibri"/>
              </a:rPr>
              <a:t>— Coefficient Path</a:t>
            </a:r>
          </a:p>
          <a:p>
            <a:pPr algn="l">
              <a:spcBef>
                <a:spcPts val="200"/>
              </a:spcBef>
            </a:pPr>
            <a:r>
              <a:rPr sz="1600" b="0" i="1">
                <a:solidFill>
                  <a:srgbClr val="555555"/>
                </a:solidFill>
                <a:latin typeface="Calibri"/>
              </a:rPr>
              <a:t>Which features the </a:t>
            </a:r>
            <a:r>
              <a:rPr lang="en-US" sz="1600" i="1">
                <a:solidFill>
                  <a:srgbClr val="555555"/>
                </a:solidFill>
                <a:latin typeface="Calibri"/>
              </a:rPr>
              <a:t>LASSO</a:t>
            </a:r>
            <a:r>
              <a:rPr sz="1600" b="0" i="1">
                <a:solidFill>
                  <a:srgbClr val="555555"/>
                </a:solidFill>
                <a:latin typeface="Calibri"/>
              </a:rPr>
              <a:t> solver selected and shrunk to zero</a:t>
            </a:r>
            <a:endParaRPr sz="1600" b="0" i="1">
              <a:solidFill>
                <a:srgbClr val="555555"/>
              </a:solidFill>
              <a:latin typeface="Calibri"/>
              <a:ea typeface="Calibri"/>
              <a:cs typeface="Calibri"/>
            </a:endParaRPr>
          </a:p>
        </p:txBody>
      </p:sp>
      <p:sp>
        <p:nvSpPr>
          <p:cNvPr id="4" name="TextBox 3">
            <a:extLst>
              <a:ext uri="{FF2B5EF4-FFF2-40B4-BE49-F238E27FC236}">
                <a16:creationId xmlns:a16="http://schemas.microsoft.com/office/drawing/2014/main" id="{D76837CF-9B3D-8F50-5ADE-698DD43A9736}"/>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15</a:t>
            </a:r>
            <a:endParaRPr lang="en-US"/>
          </a:p>
        </p:txBody>
      </p:sp>
    </p:spTree>
    <p:extLst>
      <p:ext uri="{BB962C8B-B14F-4D97-AF65-F5344CB8AC3E}">
        <p14:creationId xmlns:p14="http://schemas.microsoft.com/office/powerpoint/2010/main" val="3939047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LASSO-LARS — Coefficient Path</a:t>
            </a:r>
          </a:p>
          <a:p>
            <a:pPr algn="l">
              <a:spcBef>
                <a:spcPts val="200"/>
              </a:spcBef>
            </a:pPr>
            <a:r>
              <a:rPr sz="1600" b="0" i="1">
                <a:solidFill>
                  <a:srgbClr val="555555"/>
                </a:solidFill>
                <a:latin typeface="Calibri"/>
              </a:rPr>
              <a:t>Which features the LARS solver selected and shrunk to zero</a:t>
            </a:r>
            <a:endParaRPr sz="1600" b="0" i="1">
              <a:solidFill>
                <a:srgbClr val="555555"/>
              </a:solidFill>
              <a:latin typeface="Calibri"/>
              <a:ea typeface="Calibri"/>
              <a:cs typeface="Calibri"/>
            </a:endParaRP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asso_lars_coef_plot.png"/>
          <p:cNvPicPr>
            <a:picLocks noChangeAspect="1"/>
          </p:cNvPicPr>
          <p:nvPr/>
        </p:nvPicPr>
        <p:blipFill>
          <a:blip r:embed="rId3"/>
          <a:stretch>
            <a:fillRect/>
          </a:stretch>
        </p:blipFill>
        <p:spPr>
          <a:xfrm>
            <a:off x="1022556" y="1325880"/>
            <a:ext cx="10146582" cy="5029200"/>
          </a:xfrm>
          <a:prstGeom prst="rect">
            <a:avLst/>
          </a:prstGeom>
        </p:spPr>
      </p:pic>
      <p:sp>
        <p:nvSpPr>
          <p:cNvPr id="6" name="TextBox 5"/>
          <p:cNvSpPr txBox="1"/>
          <p:nvPr/>
        </p:nvSpPr>
        <p:spPr>
          <a:xfrm>
            <a:off x="502920" y="6263640"/>
            <a:ext cx="11155680" cy="274320"/>
          </a:xfrm>
          <a:prstGeom prst="rect">
            <a:avLst/>
          </a:prstGeom>
          <a:noFill/>
        </p:spPr>
        <p:txBody>
          <a:bodyPr wrap="none" lIns="0" tIns="0" rIns="0" bIns="0">
            <a:spAutoFit/>
          </a:bodyPr>
          <a:lstStyle/>
          <a:p>
            <a:pPr algn="ctr"/>
            <a:r>
              <a:rPr sz="1100" b="0" i="1">
                <a:solidFill>
                  <a:srgbClr val="8C8C8C"/>
                </a:solidFill>
                <a:latin typeface="Calibri"/>
              </a:rPr>
              <a:t>outputs/plots/lasso_lars_coef_plot.png</a:t>
            </a:r>
          </a:p>
        </p:txBody>
      </p:sp>
      <p:sp>
        <p:nvSpPr>
          <p:cNvPr id="7" name="TextBox 6"/>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2" name="TextBox 11">
            <a:extLst>
              <a:ext uri="{FF2B5EF4-FFF2-40B4-BE49-F238E27FC236}">
                <a16:creationId xmlns:a16="http://schemas.microsoft.com/office/drawing/2014/main" id="{B10CBABA-07F3-BC00-3A5E-4EA108E94824}"/>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098F3-BC27-8634-FD13-E45BC87560C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879F096-A2D0-8015-2E7E-A05283723C6F}"/>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9DEC904-5218-6789-94E3-0AA81BC58FE2}"/>
              </a:ext>
            </a:extLst>
          </p:cNvPr>
          <p:cNvSpPr txBox="1"/>
          <p:nvPr/>
        </p:nvSpPr>
        <p:spPr>
          <a:xfrm>
            <a:off x="502920" y="320040"/>
            <a:ext cx="11155680" cy="979755"/>
          </a:xfrm>
          <a:prstGeom prst="rect">
            <a:avLst/>
          </a:prstGeom>
          <a:noFill/>
        </p:spPr>
        <p:txBody>
          <a:bodyPr wrap="square" lIns="0" tIns="0" rIns="0" bIns="0" anchor="t">
            <a:spAutoFit/>
          </a:bodyPr>
          <a:lstStyle/>
          <a:p>
            <a:r>
              <a:rPr lang="en-US" sz="3000" b="1">
                <a:solidFill>
                  <a:srgbClr val="1F497D"/>
                </a:solidFill>
                <a:latin typeface="Calibri"/>
              </a:rPr>
              <a:t>LASSO</a:t>
            </a:r>
            <a:r>
              <a:rPr sz="3000" b="1" i="0">
                <a:solidFill>
                  <a:srgbClr val="1F497D"/>
                </a:solidFill>
                <a:latin typeface="Calibri"/>
              </a:rPr>
              <a:t>— </a:t>
            </a:r>
            <a:r>
              <a:rPr lang="en-US" sz="3000" b="1">
                <a:solidFill>
                  <a:srgbClr val="1F497D"/>
                </a:solidFill>
                <a:latin typeface="Calibri"/>
              </a:rPr>
              <a:t>Residuals Over Time</a:t>
            </a:r>
            <a:endParaRPr sz="3000" b="1" i="0">
              <a:solidFill>
                <a:srgbClr val="1F497D"/>
              </a:solidFill>
              <a:latin typeface="Calibri"/>
            </a:endParaRPr>
          </a:p>
          <a:p>
            <a:pPr>
              <a:spcBef>
                <a:spcPts val="200"/>
              </a:spcBef>
            </a:pPr>
            <a:r>
              <a:rPr lang="en-US" sz="1600" i="1">
                <a:solidFill>
                  <a:srgbClr val="555555"/>
                </a:solidFill>
                <a:ea typeface="+mn-lt"/>
                <a:cs typeface="+mn-lt"/>
              </a:rPr>
              <a:t>Residuals are mostly centered around </a:t>
            </a:r>
            <a:r>
              <a:rPr lang="en-US" sz="1600" b="0" i="1">
                <a:solidFill>
                  <a:srgbClr val="555555"/>
                </a:solidFill>
                <a:ea typeface="+mn-lt"/>
                <a:cs typeface="+mn-lt"/>
              </a:rPr>
              <a:t>zero</a:t>
            </a:r>
            <a:r>
              <a:rPr lang="en-US" sz="1600" i="1">
                <a:solidFill>
                  <a:srgbClr val="555555"/>
                </a:solidFill>
                <a:ea typeface="+mn-lt"/>
                <a:cs typeface="+mn-lt"/>
              </a:rPr>
              <a:t>, indicating reasonable model performance, with some larger errors highlighting areas for improvement.</a:t>
            </a:r>
            <a:endParaRPr sz="1600" i="1">
              <a:ea typeface="Calibri"/>
              <a:cs typeface="Calibri"/>
            </a:endParaRPr>
          </a:p>
        </p:txBody>
      </p:sp>
      <p:sp>
        <p:nvSpPr>
          <p:cNvPr id="4" name="Rectangle 3">
            <a:extLst>
              <a:ext uri="{FF2B5EF4-FFF2-40B4-BE49-F238E27FC236}">
                <a16:creationId xmlns:a16="http://schemas.microsoft.com/office/drawing/2014/main" id="{8157C99F-2D3A-321C-93F7-49CEAE371576}"/>
              </a:ext>
            </a:extLst>
          </p:cNvPr>
          <p:cNvSpPr/>
          <p:nvPr/>
        </p:nvSpPr>
        <p:spPr>
          <a:xfrm>
            <a:off x="502920" y="1279518"/>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31EE2A4-3BBE-1062-E5B3-8BD290AD37BC}"/>
              </a:ext>
            </a:extLst>
          </p:cNvPr>
          <p:cNvSpPr txBox="1"/>
          <p:nvPr/>
        </p:nvSpPr>
        <p:spPr>
          <a:xfrm>
            <a:off x="502920" y="6263640"/>
            <a:ext cx="11155680" cy="274320"/>
          </a:xfrm>
          <a:prstGeom prst="rect">
            <a:avLst/>
          </a:prstGeom>
          <a:noFill/>
        </p:spPr>
        <p:txBody>
          <a:bodyPr wrap="none" lIns="0" tIns="0" rIns="0" bIns="0">
            <a:spAutoFit/>
          </a:bodyPr>
          <a:lstStyle/>
          <a:p>
            <a:pPr algn="ctr"/>
            <a:r>
              <a:rPr sz="1100" b="0" i="1">
                <a:solidFill>
                  <a:srgbClr val="8C8C8C"/>
                </a:solidFill>
                <a:latin typeface="Calibri"/>
              </a:rPr>
              <a:t>outputs/plots/lasso_lars_coef_plot.png</a:t>
            </a:r>
          </a:p>
        </p:txBody>
      </p:sp>
      <p:sp>
        <p:nvSpPr>
          <p:cNvPr id="7" name="TextBox 6">
            <a:extLst>
              <a:ext uri="{FF2B5EF4-FFF2-40B4-BE49-F238E27FC236}">
                <a16:creationId xmlns:a16="http://schemas.microsoft.com/office/drawing/2014/main" id="{454470AB-471B-E3DA-11D8-9A4E4BAD7187}"/>
              </a:ext>
            </a:extLst>
          </p:cNvPr>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pic>
        <p:nvPicPr>
          <p:cNvPr id="10" name="Picture 9" descr="A graph with blue dots and numbers&#10;&#10;AI-generated content may be incorrect.">
            <a:extLst>
              <a:ext uri="{FF2B5EF4-FFF2-40B4-BE49-F238E27FC236}">
                <a16:creationId xmlns:a16="http://schemas.microsoft.com/office/drawing/2014/main" id="{F9D9442F-2944-8CB9-2D00-8D8864C4B4EA}"/>
              </a:ext>
            </a:extLst>
          </p:cNvPr>
          <p:cNvPicPr>
            <a:picLocks noChangeAspect="1"/>
          </p:cNvPicPr>
          <p:nvPr/>
        </p:nvPicPr>
        <p:blipFill>
          <a:blip r:embed="rId3"/>
          <a:stretch>
            <a:fillRect/>
          </a:stretch>
        </p:blipFill>
        <p:spPr>
          <a:xfrm>
            <a:off x="643467" y="1476039"/>
            <a:ext cx="10905066" cy="4280236"/>
          </a:xfrm>
          <a:prstGeom prst="rect">
            <a:avLst/>
          </a:prstGeom>
        </p:spPr>
      </p:pic>
      <p:sp>
        <p:nvSpPr>
          <p:cNvPr id="9" name="TextBox 8">
            <a:extLst>
              <a:ext uri="{FF2B5EF4-FFF2-40B4-BE49-F238E27FC236}">
                <a16:creationId xmlns:a16="http://schemas.microsoft.com/office/drawing/2014/main" id="{F6EF1A70-DA33-BDD8-E9B5-6FC47CFE36C7}"/>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17</a:t>
            </a:r>
          </a:p>
        </p:txBody>
      </p:sp>
    </p:spTree>
    <p:extLst>
      <p:ext uri="{BB962C8B-B14F-4D97-AF65-F5344CB8AC3E}">
        <p14:creationId xmlns:p14="http://schemas.microsoft.com/office/powerpoint/2010/main" val="838856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CACC1-6613-02A1-4649-A52EB1E6EBD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7325745-6C3A-5E2F-2FD9-2176C4959408}"/>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559313C8-3E0F-B968-B711-430ABEA7EB49}"/>
              </a:ext>
            </a:extLst>
          </p:cNvPr>
          <p:cNvSpPr txBox="1"/>
          <p:nvPr/>
        </p:nvSpPr>
        <p:spPr>
          <a:xfrm>
            <a:off x="502920" y="320040"/>
            <a:ext cx="11155680" cy="733534"/>
          </a:xfrm>
          <a:prstGeom prst="rect">
            <a:avLst/>
          </a:prstGeom>
          <a:noFill/>
        </p:spPr>
        <p:txBody>
          <a:bodyPr wrap="square" lIns="0" tIns="0" rIns="0" bIns="0" anchor="t">
            <a:spAutoFit/>
          </a:bodyPr>
          <a:lstStyle/>
          <a:p>
            <a:r>
              <a:rPr lang="en-US" sz="3000" b="1">
                <a:solidFill>
                  <a:srgbClr val="1F497D"/>
                </a:solidFill>
                <a:latin typeface="Calibri"/>
              </a:rPr>
              <a:t>LASSO</a:t>
            </a:r>
            <a:r>
              <a:rPr lang="en-US" sz="3000" b="1" i="0">
                <a:solidFill>
                  <a:srgbClr val="1F497D"/>
                </a:solidFill>
                <a:latin typeface="Calibri"/>
              </a:rPr>
              <a:t>— </a:t>
            </a:r>
            <a:r>
              <a:rPr lang="en-US" sz="3000" b="1">
                <a:solidFill>
                  <a:srgbClr val="1F497D"/>
                </a:solidFill>
                <a:latin typeface="Calibri"/>
              </a:rPr>
              <a:t>Top Predictors Plot</a:t>
            </a:r>
          </a:p>
          <a:p>
            <a:pPr>
              <a:spcBef>
                <a:spcPts val="200"/>
              </a:spcBef>
            </a:pPr>
            <a:r>
              <a:rPr lang="en-US" sz="1600" i="1">
                <a:solidFill>
                  <a:srgbClr val="555555"/>
                </a:solidFill>
                <a:ea typeface="+mn-lt"/>
                <a:cs typeface="+mn-lt"/>
              </a:rPr>
              <a:t>Highlights past visitor trends and local attraction factors as the most influential drivers of museum visitation.</a:t>
            </a:r>
          </a:p>
        </p:txBody>
      </p:sp>
      <p:sp>
        <p:nvSpPr>
          <p:cNvPr id="4" name="Rectangle 3">
            <a:extLst>
              <a:ext uri="{FF2B5EF4-FFF2-40B4-BE49-F238E27FC236}">
                <a16:creationId xmlns:a16="http://schemas.microsoft.com/office/drawing/2014/main" id="{0F46C335-665D-8667-4E5D-42DE181E1929}"/>
              </a:ext>
            </a:extLst>
          </p:cNvPr>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56CBFAF0-5F10-EC5A-BEC6-6BB5766362C0}"/>
              </a:ext>
            </a:extLst>
          </p:cNvPr>
          <p:cNvSpPr txBox="1"/>
          <p:nvPr/>
        </p:nvSpPr>
        <p:spPr>
          <a:xfrm>
            <a:off x="502920" y="6263640"/>
            <a:ext cx="11155680" cy="274320"/>
          </a:xfrm>
          <a:prstGeom prst="rect">
            <a:avLst/>
          </a:prstGeom>
          <a:noFill/>
        </p:spPr>
        <p:txBody>
          <a:bodyPr wrap="none" lIns="0" tIns="0" rIns="0" bIns="0">
            <a:spAutoFit/>
          </a:bodyPr>
          <a:lstStyle/>
          <a:p>
            <a:pPr algn="ctr"/>
            <a:r>
              <a:rPr sz="1100" b="0" i="1">
                <a:solidFill>
                  <a:srgbClr val="8C8C8C"/>
                </a:solidFill>
                <a:latin typeface="Calibri"/>
              </a:rPr>
              <a:t>outputs/plots/lasso_lars_coef_plot.png</a:t>
            </a:r>
          </a:p>
        </p:txBody>
      </p:sp>
      <p:sp>
        <p:nvSpPr>
          <p:cNvPr id="7" name="TextBox 6">
            <a:extLst>
              <a:ext uri="{FF2B5EF4-FFF2-40B4-BE49-F238E27FC236}">
                <a16:creationId xmlns:a16="http://schemas.microsoft.com/office/drawing/2014/main" id="{C2B6C040-7616-53E8-5680-301F8E664E7D}"/>
              </a:ext>
            </a:extLst>
          </p:cNvPr>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pic>
        <p:nvPicPr>
          <p:cNvPr id="5" name="Picture 4" descr="A graph with blue rectangles and white text&#10;&#10;AI-generated content may be incorrect.">
            <a:extLst>
              <a:ext uri="{FF2B5EF4-FFF2-40B4-BE49-F238E27FC236}">
                <a16:creationId xmlns:a16="http://schemas.microsoft.com/office/drawing/2014/main" id="{5900FBC0-E08B-EFA1-3ED9-5BE38BE97C56}"/>
              </a:ext>
            </a:extLst>
          </p:cNvPr>
          <p:cNvPicPr>
            <a:picLocks noChangeAspect="1"/>
          </p:cNvPicPr>
          <p:nvPr/>
        </p:nvPicPr>
        <p:blipFill>
          <a:blip r:embed="rId3"/>
          <a:stretch>
            <a:fillRect/>
          </a:stretch>
        </p:blipFill>
        <p:spPr>
          <a:xfrm>
            <a:off x="1096210" y="1292343"/>
            <a:ext cx="10012948" cy="5168997"/>
          </a:xfrm>
          <a:prstGeom prst="rect">
            <a:avLst/>
          </a:prstGeom>
        </p:spPr>
      </p:pic>
      <p:sp>
        <p:nvSpPr>
          <p:cNvPr id="10" name="TextBox 9">
            <a:extLst>
              <a:ext uri="{FF2B5EF4-FFF2-40B4-BE49-F238E27FC236}">
                <a16:creationId xmlns:a16="http://schemas.microsoft.com/office/drawing/2014/main" id="{7C07FE39-D2FA-FB18-DDD3-1F1C5E98AC7E}"/>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18</a:t>
            </a:r>
          </a:p>
        </p:txBody>
      </p:sp>
    </p:spTree>
    <p:extLst>
      <p:ext uri="{BB962C8B-B14F-4D97-AF65-F5344CB8AC3E}">
        <p14:creationId xmlns:p14="http://schemas.microsoft.com/office/powerpoint/2010/main" val="3228473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LASSO-LARS — Actual vs Predicted</a:t>
            </a:r>
          </a:p>
          <a:p>
            <a:pPr algn="l">
              <a:spcBef>
                <a:spcPts val="200"/>
              </a:spcBef>
            </a:pPr>
            <a:r>
              <a:rPr sz="1600" b="0" i="1">
                <a:solidFill>
                  <a:srgbClr val="555555"/>
                </a:solidFill>
                <a:latin typeface="Calibri"/>
              </a:rPr>
              <a:t>Holdout-set predictions plotted against true monthly visitors</a:t>
            </a:r>
            <a:endParaRPr sz="1600" b="0" i="1">
              <a:solidFill>
                <a:srgbClr val="555555"/>
              </a:solidFill>
              <a:latin typeface="Calibri"/>
              <a:ea typeface="Calibri"/>
              <a:cs typeface="Calibri"/>
            </a:endParaRP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asso_actual_vs_predicted.png"/>
          <p:cNvPicPr>
            <a:picLocks noChangeAspect="1"/>
          </p:cNvPicPr>
          <p:nvPr/>
        </p:nvPicPr>
        <p:blipFill>
          <a:blip r:embed="rId3"/>
          <a:stretch>
            <a:fillRect/>
          </a:stretch>
        </p:blipFill>
        <p:spPr>
          <a:xfrm>
            <a:off x="3155984" y="1325880"/>
            <a:ext cx="5879726" cy="5029200"/>
          </a:xfrm>
          <a:prstGeom prst="rect">
            <a:avLst/>
          </a:prstGeom>
        </p:spPr>
      </p:pic>
      <p:sp>
        <p:nvSpPr>
          <p:cNvPr id="6" name="TextBox 5"/>
          <p:cNvSpPr txBox="1"/>
          <p:nvPr/>
        </p:nvSpPr>
        <p:spPr>
          <a:xfrm>
            <a:off x="502920" y="6263640"/>
            <a:ext cx="11155680" cy="274320"/>
          </a:xfrm>
          <a:prstGeom prst="rect">
            <a:avLst/>
          </a:prstGeom>
          <a:noFill/>
        </p:spPr>
        <p:txBody>
          <a:bodyPr wrap="none" lIns="0" tIns="0" rIns="0" bIns="0">
            <a:spAutoFit/>
          </a:bodyPr>
          <a:lstStyle/>
          <a:p>
            <a:pPr algn="ctr"/>
            <a:r>
              <a:rPr sz="1100" b="0" i="1">
                <a:solidFill>
                  <a:srgbClr val="8C8C8C"/>
                </a:solidFill>
                <a:latin typeface="Calibri"/>
              </a:rPr>
              <a:t>outputs/plots/lasso_actual_vs_predicted.png</a:t>
            </a:r>
          </a:p>
        </p:txBody>
      </p:sp>
      <p:sp>
        <p:nvSpPr>
          <p:cNvPr id="7" name="TextBox 6"/>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0" name="TextBox 9">
            <a:extLst>
              <a:ext uri="{FF2B5EF4-FFF2-40B4-BE49-F238E27FC236}">
                <a16:creationId xmlns:a16="http://schemas.microsoft.com/office/drawing/2014/main" id="{A5A96524-EF96-D5C0-7DD3-A7878353B130}"/>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Random Forest — Feature Importance (Sanity Check)</a:t>
            </a:r>
          </a:p>
          <a:p>
            <a:pPr algn="l">
              <a:spcBef>
                <a:spcPts val="200"/>
              </a:spcBef>
            </a:pPr>
            <a:r>
              <a:rPr sz="1600" b="0" i="1">
                <a:solidFill>
                  <a:srgbClr val="555555"/>
                </a:solidFill>
                <a:latin typeface="Calibri"/>
              </a:rPr>
              <a:t>Independent confirmation that lag features dominate</a:t>
            </a:r>
            <a:endParaRPr sz="1600" b="0" i="1">
              <a:solidFill>
                <a:srgbClr val="555555"/>
              </a:solidFill>
              <a:latin typeface="Calibri"/>
              <a:ea typeface="Calibri"/>
              <a:cs typeface="Calibri"/>
            </a:endParaRP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rf_feature_importance.png"/>
          <p:cNvPicPr>
            <a:picLocks noChangeAspect="1"/>
          </p:cNvPicPr>
          <p:nvPr/>
        </p:nvPicPr>
        <p:blipFill>
          <a:blip r:embed="rId3"/>
          <a:stretch>
            <a:fillRect/>
          </a:stretch>
        </p:blipFill>
        <p:spPr>
          <a:xfrm>
            <a:off x="1887553" y="1325880"/>
            <a:ext cx="8416589" cy="5029200"/>
          </a:xfrm>
          <a:prstGeom prst="rect">
            <a:avLst/>
          </a:prstGeom>
        </p:spPr>
      </p:pic>
      <p:sp>
        <p:nvSpPr>
          <p:cNvPr id="6" name="TextBox 5"/>
          <p:cNvSpPr txBox="1"/>
          <p:nvPr/>
        </p:nvSpPr>
        <p:spPr>
          <a:xfrm>
            <a:off x="502920" y="6263640"/>
            <a:ext cx="11155680" cy="274320"/>
          </a:xfrm>
          <a:prstGeom prst="rect">
            <a:avLst/>
          </a:prstGeom>
          <a:noFill/>
        </p:spPr>
        <p:txBody>
          <a:bodyPr wrap="none" lIns="0" tIns="0" rIns="0" bIns="0">
            <a:spAutoFit/>
          </a:bodyPr>
          <a:lstStyle/>
          <a:p>
            <a:pPr algn="ctr"/>
            <a:r>
              <a:rPr sz="1100" b="0" i="1">
                <a:solidFill>
                  <a:srgbClr val="8C8C8C"/>
                </a:solidFill>
                <a:latin typeface="Calibri"/>
              </a:rPr>
              <a:t>outputs/plots/rf_feature_importance.png</a:t>
            </a:r>
          </a:p>
        </p:txBody>
      </p:sp>
      <p:sp>
        <p:nvSpPr>
          <p:cNvPr id="7" name="TextBox 6"/>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0" name="TextBox 9">
            <a:extLst>
              <a:ext uri="{FF2B5EF4-FFF2-40B4-BE49-F238E27FC236}">
                <a16:creationId xmlns:a16="http://schemas.microsoft.com/office/drawing/2014/main" id="{EBC04B66-FE5F-4F2D-5427-707A52BA3188}"/>
              </a:ext>
            </a:extLst>
          </p:cNvPr>
          <p:cNvSpPr txBox="1"/>
          <p:nvPr/>
        </p:nvSpPr>
        <p:spPr>
          <a:xfrm>
            <a:off x="11381953"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C53A6-9860-1A5D-7D88-7E64F074012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5021EFF-205E-196D-CA56-F56EED09C63B}"/>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6A475AA-83FC-05FA-66E5-0BDD3D402C05}"/>
              </a:ext>
            </a:extLst>
          </p:cNvPr>
          <p:cNvSpPr txBox="1"/>
          <p:nvPr/>
        </p:nvSpPr>
        <p:spPr>
          <a:xfrm>
            <a:off x="502920" y="320040"/>
            <a:ext cx="11155680" cy="733534"/>
          </a:xfrm>
          <a:prstGeom prst="rect">
            <a:avLst/>
          </a:prstGeom>
          <a:noFill/>
        </p:spPr>
        <p:txBody>
          <a:bodyPr wrap="square" lIns="0" tIns="0" rIns="0" bIns="0" anchor="t">
            <a:spAutoFit/>
          </a:bodyPr>
          <a:lstStyle/>
          <a:p>
            <a:pPr algn="l"/>
            <a:r>
              <a:rPr lang="en-US" sz="3000" b="1" dirty="0">
                <a:solidFill>
                  <a:srgbClr val="1F497D"/>
                </a:solidFill>
                <a:latin typeface="Calibri"/>
              </a:rPr>
              <a:t>Linear SVR</a:t>
            </a:r>
            <a:r>
              <a:rPr sz="3000" b="1" i="0" dirty="0">
                <a:solidFill>
                  <a:srgbClr val="1F497D"/>
                </a:solidFill>
                <a:latin typeface="Calibri"/>
              </a:rPr>
              <a:t> </a:t>
            </a:r>
            <a:r>
              <a:rPr lang="en-US" sz="3000" b="1" i="0" dirty="0">
                <a:solidFill>
                  <a:srgbClr val="1F497D"/>
                </a:solidFill>
                <a:latin typeface="Calibri"/>
              </a:rPr>
              <a:t>– Actual vs Predicted Visitors</a:t>
            </a:r>
          </a:p>
          <a:p>
            <a:pPr algn="l">
              <a:spcBef>
                <a:spcPts val="200"/>
              </a:spcBef>
            </a:pPr>
            <a:r>
              <a:rPr lang="en-US" sz="1600" b="0" i="1" dirty="0">
                <a:solidFill>
                  <a:srgbClr val="555555"/>
                </a:solidFill>
                <a:latin typeface="Calibri"/>
                <a:ea typeface="Calibri"/>
                <a:cs typeface="Calibri"/>
              </a:rPr>
              <a:t>The Linear SVR model shows a generally strong alignment between actual and predicted visitor counts.</a:t>
            </a:r>
          </a:p>
        </p:txBody>
      </p:sp>
      <p:sp>
        <p:nvSpPr>
          <p:cNvPr id="4" name="Rectangle 3">
            <a:extLst>
              <a:ext uri="{FF2B5EF4-FFF2-40B4-BE49-F238E27FC236}">
                <a16:creationId xmlns:a16="http://schemas.microsoft.com/office/drawing/2014/main" id="{124BCF96-0C1E-0EB3-9561-272F71E53CDD}"/>
              </a:ext>
            </a:extLst>
          </p:cNvPr>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01E0AAB8-E098-D04A-CD45-D6835221D4C7}"/>
              </a:ext>
            </a:extLst>
          </p:cNvPr>
          <p:cNvSpPr txBox="1"/>
          <p:nvPr/>
        </p:nvSpPr>
        <p:spPr>
          <a:xfrm>
            <a:off x="502920" y="6263640"/>
            <a:ext cx="11155680" cy="274320"/>
          </a:xfrm>
          <a:prstGeom prst="rect">
            <a:avLst/>
          </a:prstGeom>
          <a:noFill/>
        </p:spPr>
        <p:txBody>
          <a:bodyPr wrap="none" lIns="0" tIns="0" rIns="0" bIns="0">
            <a:spAutoFit/>
          </a:bodyPr>
          <a:lstStyle/>
          <a:p>
            <a:pPr algn="ctr"/>
            <a:r>
              <a:rPr sz="1100" b="0" i="1">
                <a:solidFill>
                  <a:srgbClr val="8C8C8C"/>
                </a:solidFill>
                <a:latin typeface="Calibri"/>
              </a:rPr>
              <a:t>outputs/plots/rf_feature_importance.png</a:t>
            </a:r>
          </a:p>
        </p:txBody>
      </p:sp>
      <p:sp>
        <p:nvSpPr>
          <p:cNvPr id="7" name="TextBox 6">
            <a:extLst>
              <a:ext uri="{FF2B5EF4-FFF2-40B4-BE49-F238E27FC236}">
                <a16:creationId xmlns:a16="http://schemas.microsoft.com/office/drawing/2014/main" id="{347DA7EB-1B06-8DCC-2C0C-37621507A20B}"/>
              </a:ext>
            </a:extLst>
          </p:cNvPr>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0" name="TextBox 9">
            <a:extLst>
              <a:ext uri="{FF2B5EF4-FFF2-40B4-BE49-F238E27FC236}">
                <a16:creationId xmlns:a16="http://schemas.microsoft.com/office/drawing/2014/main" id="{85D76B34-0680-2502-A9F7-98BEDE65BC7D}"/>
              </a:ext>
            </a:extLst>
          </p:cNvPr>
          <p:cNvSpPr txBox="1"/>
          <p:nvPr/>
        </p:nvSpPr>
        <p:spPr>
          <a:xfrm>
            <a:off x="11381953"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Calibri"/>
                <a:cs typeface="Calibri"/>
              </a:rPr>
              <a:t>21</a:t>
            </a:r>
            <a:endParaRPr lang="en-US" dirty="0"/>
          </a:p>
        </p:txBody>
      </p:sp>
      <p:pic>
        <p:nvPicPr>
          <p:cNvPr id="9" name="Picture 8">
            <a:extLst>
              <a:ext uri="{FF2B5EF4-FFF2-40B4-BE49-F238E27FC236}">
                <a16:creationId xmlns:a16="http://schemas.microsoft.com/office/drawing/2014/main" id="{2CFE6EF0-A53D-CD5E-C793-4D16781A069A}"/>
              </a:ext>
            </a:extLst>
          </p:cNvPr>
          <p:cNvPicPr>
            <a:picLocks noChangeAspect="1"/>
          </p:cNvPicPr>
          <p:nvPr/>
        </p:nvPicPr>
        <p:blipFill>
          <a:blip r:embed="rId3"/>
          <a:stretch>
            <a:fillRect/>
          </a:stretch>
        </p:blipFill>
        <p:spPr>
          <a:xfrm>
            <a:off x="2697480" y="1285222"/>
            <a:ext cx="5980713" cy="5115578"/>
          </a:xfrm>
          <a:prstGeom prst="rect">
            <a:avLst/>
          </a:prstGeom>
        </p:spPr>
      </p:pic>
    </p:spTree>
    <p:extLst>
      <p:ext uri="{BB962C8B-B14F-4D97-AF65-F5344CB8AC3E}">
        <p14:creationId xmlns:p14="http://schemas.microsoft.com/office/powerpoint/2010/main" val="2128919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97738-F8C1-1610-CD94-69A614C16F9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5CEB954-9904-990D-7C0B-46D31998643D}"/>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E68B82C-DCC1-9B6A-5CB8-5DD4EFE806DE}"/>
              </a:ext>
            </a:extLst>
          </p:cNvPr>
          <p:cNvSpPr txBox="1"/>
          <p:nvPr/>
        </p:nvSpPr>
        <p:spPr>
          <a:xfrm>
            <a:off x="502920" y="320040"/>
            <a:ext cx="11155680" cy="733534"/>
          </a:xfrm>
          <a:prstGeom prst="rect">
            <a:avLst/>
          </a:prstGeom>
          <a:noFill/>
        </p:spPr>
        <p:txBody>
          <a:bodyPr wrap="square" lIns="0" tIns="0" rIns="0" bIns="0" anchor="t">
            <a:spAutoFit/>
          </a:bodyPr>
          <a:lstStyle/>
          <a:p>
            <a:pPr algn="l"/>
            <a:r>
              <a:rPr lang="en-US" sz="3000" b="1" dirty="0">
                <a:solidFill>
                  <a:srgbClr val="1F497D"/>
                </a:solidFill>
                <a:latin typeface="Calibri"/>
              </a:rPr>
              <a:t>Linear SVR Residuals Over Time </a:t>
            </a:r>
            <a:endParaRPr lang="en-US" sz="3000" b="1" i="0" dirty="0">
              <a:solidFill>
                <a:srgbClr val="1F497D"/>
              </a:solidFill>
              <a:latin typeface="Calibri"/>
            </a:endParaRPr>
          </a:p>
          <a:p>
            <a:pPr algn="l">
              <a:spcBef>
                <a:spcPts val="200"/>
              </a:spcBef>
            </a:pPr>
            <a:r>
              <a:rPr lang="en-US" sz="1600" b="0" i="1" dirty="0">
                <a:solidFill>
                  <a:srgbClr val="555555"/>
                </a:solidFill>
                <a:latin typeface="Calibri"/>
                <a:ea typeface="Calibri"/>
                <a:cs typeface="Calibri"/>
              </a:rPr>
              <a:t>The residuals vary around zero, showing the model captures trends but has some large prediction errors.</a:t>
            </a:r>
          </a:p>
        </p:txBody>
      </p:sp>
      <p:sp>
        <p:nvSpPr>
          <p:cNvPr id="4" name="Rectangle 3">
            <a:extLst>
              <a:ext uri="{FF2B5EF4-FFF2-40B4-BE49-F238E27FC236}">
                <a16:creationId xmlns:a16="http://schemas.microsoft.com/office/drawing/2014/main" id="{4D492C4A-DC94-6EF6-3147-411EE3B5BF1E}"/>
              </a:ext>
            </a:extLst>
          </p:cNvPr>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6B24D0F4-592B-D311-6793-C6277FD265FA}"/>
              </a:ext>
            </a:extLst>
          </p:cNvPr>
          <p:cNvSpPr txBox="1"/>
          <p:nvPr/>
        </p:nvSpPr>
        <p:spPr>
          <a:xfrm>
            <a:off x="502920" y="6263640"/>
            <a:ext cx="11155680" cy="274320"/>
          </a:xfrm>
          <a:prstGeom prst="rect">
            <a:avLst/>
          </a:prstGeom>
          <a:noFill/>
        </p:spPr>
        <p:txBody>
          <a:bodyPr wrap="none" lIns="0" tIns="0" rIns="0" bIns="0">
            <a:spAutoFit/>
          </a:bodyPr>
          <a:lstStyle/>
          <a:p>
            <a:pPr algn="ctr"/>
            <a:r>
              <a:rPr sz="1100" b="0" i="1">
                <a:solidFill>
                  <a:srgbClr val="8C8C8C"/>
                </a:solidFill>
                <a:latin typeface="Calibri"/>
              </a:rPr>
              <a:t>outputs/plots/rf_feature_importance.png</a:t>
            </a:r>
          </a:p>
        </p:txBody>
      </p:sp>
      <p:sp>
        <p:nvSpPr>
          <p:cNvPr id="7" name="TextBox 6">
            <a:extLst>
              <a:ext uri="{FF2B5EF4-FFF2-40B4-BE49-F238E27FC236}">
                <a16:creationId xmlns:a16="http://schemas.microsoft.com/office/drawing/2014/main" id="{EFC7DFCE-FB0F-5244-5B76-AA0E1DDDE75C}"/>
              </a:ext>
            </a:extLst>
          </p:cNvPr>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0" name="TextBox 9">
            <a:extLst>
              <a:ext uri="{FF2B5EF4-FFF2-40B4-BE49-F238E27FC236}">
                <a16:creationId xmlns:a16="http://schemas.microsoft.com/office/drawing/2014/main" id="{8235143D-6A15-B8B3-9FC7-7C71CC8E644D}"/>
              </a:ext>
            </a:extLst>
          </p:cNvPr>
          <p:cNvSpPr txBox="1"/>
          <p:nvPr/>
        </p:nvSpPr>
        <p:spPr>
          <a:xfrm>
            <a:off x="11381953"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Calibri"/>
                <a:cs typeface="Calibri"/>
              </a:rPr>
              <a:t>22</a:t>
            </a:r>
            <a:endParaRPr lang="en-US" dirty="0"/>
          </a:p>
        </p:txBody>
      </p:sp>
      <p:sp>
        <p:nvSpPr>
          <p:cNvPr id="5" name="AutoShape 2">
            <a:extLst>
              <a:ext uri="{FF2B5EF4-FFF2-40B4-BE49-F238E27FC236}">
                <a16:creationId xmlns:a16="http://schemas.microsoft.com/office/drawing/2014/main" id="{D4F239F1-4E77-792E-F524-1D4657F9404A}"/>
              </a:ext>
            </a:extLst>
          </p:cNvPr>
          <p:cNvSpPr>
            <a:spLocks noChangeAspect="1" noChangeArrowheads="1"/>
          </p:cNvSpPr>
          <p:nvPr/>
        </p:nvSpPr>
        <p:spPr bwMode="auto">
          <a:xfrm>
            <a:off x="2589088" y="-77912"/>
            <a:ext cx="3659312" cy="365931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BA7D6FA1-5D7F-1BE2-28E1-99FB8D72E27B}"/>
              </a:ext>
            </a:extLst>
          </p:cNvPr>
          <p:cNvPicPr>
            <a:picLocks noChangeAspect="1"/>
          </p:cNvPicPr>
          <p:nvPr/>
        </p:nvPicPr>
        <p:blipFill>
          <a:blip r:embed="rId3"/>
          <a:stretch>
            <a:fillRect/>
          </a:stretch>
        </p:blipFill>
        <p:spPr>
          <a:xfrm>
            <a:off x="738883" y="1202624"/>
            <a:ext cx="10239910" cy="4924250"/>
          </a:xfrm>
          <a:prstGeom prst="rect">
            <a:avLst/>
          </a:prstGeom>
        </p:spPr>
      </p:pic>
    </p:spTree>
    <p:extLst>
      <p:ext uri="{BB962C8B-B14F-4D97-AF65-F5344CB8AC3E}">
        <p14:creationId xmlns:p14="http://schemas.microsoft.com/office/powerpoint/2010/main" val="25281149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8BABF-EF01-3D45-8061-8F82F3DD010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B880E13-949A-5714-C7FE-1AB803A6A7C2}"/>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4EAEC9B-0B92-DE56-4111-B33F4EDBBAF0}"/>
              </a:ext>
            </a:extLst>
          </p:cNvPr>
          <p:cNvSpPr txBox="1"/>
          <p:nvPr/>
        </p:nvSpPr>
        <p:spPr>
          <a:xfrm>
            <a:off x="502920" y="320040"/>
            <a:ext cx="11155680" cy="733534"/>
          </a:xfrm>
          <a:prstGeom prst="rect">
            <a:avLst/>
          </a:prstGeom>
          <a:noFill/>
        </p:spPr>
        <p:txBody>
          <a:bodyPr wrap="square" lIns="0" tIns="0" rIns="0" bIns="0" anchor="t">
            <a:spAutoFit/>
          </a:bodyPr>
          <a:lstStyle/>
          <a:p>
            <a:pPr algn="l"/>
            <a:r>
              <a:rPr lang="en-US" sz="3000" b="1" dirty="0">
                <a:solidFill>
                  <a:srgbClr val="1F497D"/>
                </a:solidFill>
                <a:latin typeface="Calibri"/>
              </a:rPr>
              <a:t> SVR – RFB Actual vs Predicted </a:t>
            </a:r>
            <a:endParaRPr lang="en-US" sz="3000" b="1" i="0" dirty="0">
              <a:solidFill>
                <a:srgbClr val="1F497D"/>
              </a:solidFill>
              <a:latin typeface="Calibri"/>
            </a:endParaRPr>
          </a:p>
          <a:p>
            <a:pPr algn="l">
              <a:spcBef>
                <a:spcPts val="200"/>
              </a:spcBef>
            </a:pPr>
            <a:r>
              <a:rPr lang="en-US" sz="1600" b="0" i="1" dirty="0">
                <a:solidFill>
                  <a:srgbClr val="555555"/>
                </a:solidFill>
                <a:latin typeface="Calibri"/>
                <a:ea typeface="Calibri"/>
                <a:cs typeface="Calibri"/>
              </a:rPr>
              <a:t>The SVR-RBF model shows weaker prediction accuracy with clustered predictions.</a:t>
            </a:r>
          </a:p>
        </p:txBody>
      </p:sp>
      <p:sp>
        <p:nvSpPr>
          <p:cNvPr id="4" name="Rectangle 3">
            <a:extLst>
              <a:ext uri="{FF2B5EF4-FFF2-40B4-BE49-F238E27FC236}">
                <a16:creationId xmlns:a16="http://schemas.microsoft.com/office/drawing/2014/main" id="{A5F60747-DB81-CA4C-6EE2-FFA66C4ADC85}"/>
              </a:ext>
            </a:extLst>
          </p:cNvPr>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85B583CC-8CE2-7B37-0B13-C2D1FFE6FDC0}"/>
              </a:ext>
            </a:extLst>
          </p:cNvPr>
          <p:cNvSpPr txBox="1"/>
          <p:nvPr/>
        </p:nvSpPr>
        <p:spPr>
          <a:xfrm>
            <a:off x="502920" y="6263640"/>
            <a:ext cx="11155680" cy="274320"/>
          </a:xfrm>
          <a:prstGeom prst="rect">
            <a:avLst/>
          </a:prstGeom>
          <a:noFill/>
        </p:spPr>
        <p:txBody>
          <a:bodyPr wrap="none" lIns="0" tIns="0" rIns="0" bIns="0">
            <a:spAutoFit/>
          </a:bodyPr>
          <a:lstStyle/>
          <a:p>
            <a:pPr algn="ctr"/>
            <a:r>
              <a:rPr sz="1100" b="0" i="1">
                <a:solidFill>
                  <a:srgbClr val="8C8C8C"/>
                </a:solidFill>
                <a:latin typeface="Calibri"/>
              </a:rPr>
              <a:t>outputs/plots/rf_feature_importance.png</a:t>
            </a:r>
          </a:p>
        </p:txBody>
      </p:sp>
      <p:sp>
        <p:nvSpPr>
          <p:cNvPr id="7" name="TextBox 6">
            <a:extLst>
              <a:ext uri="{FF2B5EF4-FFF2-40B4-BE49-F238E27FC236}">
                <a16:creationId xmlns:a16="http://schemas.microsoft.com/office/drawing/2014/main" id="{43EA1DCF-5EB7-208A-59A0-426849AE8442}"/>
              </a:ext>
            </a:extLst>
          </p:cNvPr>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0" name="TextBox 9">
            <a:extLst>
              <a:ext uri="{FF2B5EF4-FFF2-40B4-BE49-F238E27FC236}">
                <a16:creationId xmlns:a16="http://schemas.microsoft.com/office/drawing/2014/main" id="{5D984B7A-9C21-D000-6D6B-3365BACEBD7D}"/>
              </a:ext>
            </a:extLst>
          </p:cNvPr>
          <p:cNvSpPr txBox="1"/>
          <p:nvPr/>
        </p:nvSpPr>
        <p:spPr>
          <a:xfrm>
            <a:off x="11381953"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Calibri"/>
                <a:cs typeface="Calibri"/>
              </a:rPr>
              <a:t>23</a:t>
            </a:r>
            <a:endParaRPr lang="en-US" dirty="0"/>
          </a:p>
        </p:txBody>
      </p:sp>
      <p:sp>
        <p:nvSpPr>
          <p:cNvPr id="5" name="AutoShape 2">
            <a:extLst>
              <a:ext uri="{FF2B5EF4-FFF2-40B4-BE49-F238E27FC236}">
                <a16:creationId xmlns:a16="http://schemas.microsoft.com/office/drawing/2014/main" id="{1E2DFE17-D56C-84FD-D120-06096B4E4755}"/>
              </a:ext>
            </a:extLst>
          </p:cNvPr>
          <p:cNvSpPr>
            <a:spLocks noChangeAspect="1" noChangeArrowheads="1"/>
          </p:cNvSpPr>
          <p:nvPr/>
        </p:nvSpPr>
        <p:spPr bwMode="auto">
          <a:xfrm>
            <a:off x="2589088" y="-77912"/>
            <a:ext cx="3659312" cy="365931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BC89E6FE-4D90-9A99-6820-DD7426D74BC9}"/>
              </a:ext>
            </a:extLst>
          </p:cNvPr>
          <p:cNvPicPr>
            <a:picLocks noChangeAspect="1"/>
          </p:cNvPicPr>
          <p:nvPr/>
        </p:nvPicPr>
        <p:blipFill>
          <a:blip r:embed="rId3"/>
          <a:stretch>
            <a:fillRect/>
          </a:stretch>
        </p:blipFill>
        <p:spPr>
          <a:xfrm>
            <a:off x="1600200" y="1254060"/>
            <a:ext cx="8350322" cy="4680099"/>
          </a:xfrm>
          <a:prstGeom prst="rect">
            <a:avLst/>
          </a:prstGeom>
        </p:spPr>
      </p:pic>
    </p:spTree>
    <p:extLst>
      <p:ext uri="{BB962C8B-B14F-4D97-AF65-F5344CB8AC3E}">
        <p14:creationId xmlns:p14="http://schemas.microsoft.com/office/powerpoint/2010/main" val="1837175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45A85-E549-DB63-B960-4FF3C927BDD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8E9EA5C-E2A8-DA65-C1AB-3CBA75DA862E}"/>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06B2223-EA6F-5193-16BC-17EFEEEBC776}"/>
              </a:ext>
            </a:extLst>
          </p:cNvPr>
          <p:cNvSpPr txBox="1"/>
          <p:nvPr/>
        </p:nvSpPr>
        <p:spPr>
          <a:xfrm>
            <a:off x="502920" y="320040"/>
            <a:ext cx="11155680" cy="733534"/>
          </a:xfrm>
          <a:prstGeom prst="rect">
            <a:avLst/>
          </a:prstGeom>
          <a:noFill/>
        </p:spPr>
        <p:txBody>
          <a:bodyPr wrap="square" lIns="0" tIns="0" rIns="0" bIns="0" anchor="t">
            <a:spAutoFit/>
          </a:bodyPr>
          <a:lstStyle/>
          <a:p>
            <a:pPr algn="l"/>
            <a:r>
              <a:rPr lang="en-US" sz="3000" b="1" dirty="0">
                <a:solidFill>
                  <a:srgbClr val="1F497D"/>
                </a:solidFill>
                <a:latin typeface="Calibri"/>
              </a:rPr>
              <a:t>SVR-RFB Residuals  </a:t>
            </a:r>
            <a:endParaRPr lang="en-US" sz="3000" b="1" i="0" dirty="0">
              <a:solidFill>
                <a:srgbClr val="1F497D"/>
              </a:solidFill>
              <a:latin typeface="Calibri"/>
            </a:endParaRPr>
          </a:p>
          <a:p>
            <a:pPr>
              <a:spcBef>
                <a:spcPts val="200"/>
              </a:spcBef>
            </a:pPr>
            <a:r>
              <a:rPr lang="en-US" sz="1600" dirty="0"/>
              <a:t>The SVR-RBF model increasingly underestimates higher visitor counts.</a:t>
            </a:r>
            <a:endParaRPr lang="en-US" sz="1600" b="0" i="1" dirty="0">
              <a:solidFill>
                <a:srgbClr val="555555"/>
              </a:solidFill>
              <a:latin typeface="Calibri"/>
              <a:ea typeface="Calibri"/>
              <a:cs typeface="Calibri"/>
            </a:endParaRPr>
          </a:p>
        </p:txBody>
      </p:sp>
      <p:sp>
        <p:nvSpPr>
          <p:cNvPr id="4" name="Rectangle 3">
            <a:extLst>
              <a:ext uri="{FF2B5EF4-FFF2-40B4-BE49-F238E27FC236}">
                <a16:creationId xmlns:a16="http://schemas.microsoft.com/office/drawing/2014/main" id="{5D4B356B-34FD-343C-4F4C-8E5572E24351}"/>
              </a:ext>
            </a:extLst>
          </p:cNvPr>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570DB8DE-E62D-6C2C-8B50-1FE5CBFAE978}"/>
              </a:ext>
            </a:extLst>
          </p:cNvPr>
          <p:cNvSpPr txBox="1"/>
          <p:nvPr/>
        </p:nvSpPr>
        <p:spPr>
          <a:xfrm>
            <a:off x="502920" y="6263640"/>
            <a:ext cx="11155680" cy="274320"/>
          </a:xfrm>
          <a:prstGeom prst="rect">
            <a:avLst/>
          </a:prstGeom>
          <a:noFill/>
        </p:spPr>
        <p:txBody>
          <a:bodyPr wrap="none" lIns="0" tIns="0" rIns="0" bIns="0">
            <a:spAutoFit/>
          </a:bodyPr>
          <a:lstStyle/>
          <a:p>
            <a:pPr algn="ctr"/>
            <a:r>
              <a:rPr sz="1100" b="0" i="1">
                <a:solidFill>
                  <a:srgbClr val="8C8C8C"/>
                </a:solidFill>
                <a:latin typeface="Calibri"/>
              </a:rPr>
              <a:t>outputs/plots/rf_feature_importance.png</a:t>
            </a:r>
          </a:p>
        </p:txBody>
      </p:sp>
      <p:sp>
        <p:nvSpPr>
          <p:cNvPr id="7" name="TextBox 6">
            <a:extLst>
              <a:ext uri="{FF2B5EF4-FFF2-40B4-BE49-F238E27FC236}">
                <a16:creationId xmlns:a16="http://schemas.microsoft.com/office/drawing/2014/main" id="{D6285147-46A3-0B64-58F5-A9440EEFE015}"/>
              </a:ext>
            </a:extLst>
          </p:cNvPr>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0" name="TextBox 9">
            <a:extLst>
              <a:ext uri="{FF2B5EF4-FFF2-40B4-BE49-F238E27FC236}">
                <a16:creationId xmlns:a16="http://schemas.microsoft.com/office/drawing/2014/main" id="{D4236DBD-3265-3022-FA85-DE81798D6BC3}"/>
              </a:ext>
            </a:extLst>
          </p:cNvPr>
          <p:cNvSpPr txBox="1"/>
          <p:nvPr/>
        </p:nvSpPr>
        <p:spPr>
          <a:xfrm>
            <a:off x="11381953"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Calibri"/>
                <a:cs typeface="Calibri"/>
              </a:rPr>
              <a:t>24</a:t>
            </a:r>
            <a:endParaRPr lang="en-US" dirty="0"/>
          </a:p>
        </p:txBody>
      </p:sp>
      <p:sp>
        <p:nvSpPr>
          <p:cNvPr id="5" name="AutoShape 2">
            <a:extLst>
              <a:ext uri="{FF2B5EF4-FFF2-40B4-BE49-F238E27FC236}">
                <a16:creationId xmlns:a16="http://schemas.microsoft.com/office/drawing/2014/main" id="{D4CAB930-90E9-DDFD-1851-6971378D3EEA}"/>
              </a:ext>
            </a:extLst>
          </p:cNvPr>
          <p:cNvSpPr>
            <a:spLocks noChangeAspect="1" noChangeArrowheads="1"/>
          </p:cNvSpPr>
          <p:nvPr/>
        </p:nvSpPr>
        <p:spPr bwMode="auto">
          <a:xfrm>
            <a:off x="2589088" y="-77912"/>
            <a:ext cx="3659312" cy="365931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57904087-B7E4-5EFA-B81B-A77B0817BA5B}"/>
              </a:ext>
            </a:extLst>
          </p:cNvPr>
          <p:cNvPicPr>
            <a:picLocks noChangeAspect="1"/>
          </p:cNvPicPr>
          <p:nvPr/>
        </p:nvPicPr>
        <p:blipFill>
          <a:blip r:embed="rId3"/>
          <a:stretch>
            <a:fillRect/>
          </a:stretch>
        </p:blipFill>
        <p:spPr>
          <a:xfrm>
            <a:off x="1705510" y="1236454"/>
            <a:ext cx="8541421" cy="4572000"/>
          </a:xfrm>
          <a:prstGeom prst="rect">
            <a:avLst/>
          </a:prstGeom>
        </p:spPr>
      </p:pic>
    </p:spTree>
    <p:extLst>
      <p:ext uri="{BB962C8B-B14F-4D97-AF65-F5344CB8AC3E}">
        <p14:creationId xmlns:p14="http://schemas.microsoft.com/office/powerpoint/2010/main" val="1629081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r>
              <a:rPr lang="en-US" sz="3000" b="1">
                <a:solidFill>
                  <a:srgbClr val="1F497D"/>
                </a:solidFill>
                <a:latin typeface="Calibri"/>
                <a:ea typeface="Calibri"/>
                <a:cs typeface="Calibri"/>
              </a:rPr>
              <a:t>Model Result – Project Goal </a:t>
            </a:r>
            <a:endParaRPr lang="en-US" sz="3000" b="1" i="0">
              <a:solidFill>
                <a:srgbClr val="1F497D"/>
              </a:solidFill>
              <a:latin typeface="Calibri"/>
              <a:ea typeface="Calibri"/>
              <a:cs typeface="Calibri"/>
            </a:endParaRPr>
          </a:p>
          <a:p>
            <a:pPr>
              <a:spcBef>
                <a:spcPts val="200"/>
              </a:spcBef>
            </a:pPr>
            <a:r>
              <a:rPr sz="1600" b="0" i="1">
                <a:solidFill>
                  <a:srgbClr val="555555"/>
                </a:solidFill>
                <a:latin typeface="Calibri"/>
              </a:rPr>
              <a:t>What </a:t>
            </a:r>
            <a:r>
              <a:rPr lang="en-US" sz="1600" i="1">
                <a:solidFill>
                  <a:srgbClr val="555555"/>
                </a:solidFill>
                <a:latin typeface="Calibri"/>
              </a:rPr>
              <a:t>did we find?</a:t>
            </a:r>
            <a:endParaRPr lang="en-US" sz="1600" b="0" i="1">
              <a:solidFill>
                <a:srgbClr val="555555"/>
              </a:solidFill>
              <a:latin typeface="Calibri"/>
              <a:ea typeface="Calibri"/>
              <a:cs typeface="Calibri"/>
            </a:endParaRP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25880"/>
            <a:ext cx="11155680" cy="5203476"/>
          </a:xfrm>
          <a:prstGeom prst="rect">
            <a:avLst/>
          </a:prstGeom>
          <a:noFill/>
        </p:spPr>
        <p:txBody>
          <a:bodyPr wrap="square" lIns="45720" tIns="45720" rIns="45720" bIns="45720" anchor="t">
            <a:spAutoFit/>
          </a:bodyPr>
          <a:lstStyle/>
          <a:p>
            <a:pPr>
              <a:lnSpc>
                <a:spcPct val="118000"/>
              </a:lnSpc>
              <a:spcAft>
                <a:spcPts val="400"/>
              </a:spcAft>
            </a:pPr>
            <a:r>
              <a:rPr lang="en-US" sz="2000" b="1" i="0">
                <a:solidFill>
                  <a:srgbClr val="1F497D"/>
                </a:solidFill>
                <a:ea typeface="+mn-lt"/>
                <a:cs typeface="+mn-lt"/>
              </a:rPr>
              <a:t>• </a:t>
            </a:r>
            <a:r>
              <a:rPr lang="en-US" sz="2000" b="1">
                <a:solidFill>
                  <a:srgbClr val="1F497D"/>
                </a:solidFill>
                <a:ea typeface="+mn-lt"/>
                <a:cs typeface="+mn-lt"/>
              </a:rPr>
              <a:t>Supports staffing and Operations:</a:t>
            </a:r>
            <a:endParaRPr lang="en-US" sz="2000">
              <a:solidFill>
                <a:srgbClr val="222222"/>
              </a:solidFill>
              <a:ea typeface="+mn-lt"/>
              <a:cs typeface="+mn-lt"/>
            </a:endParaRPr>
          </a:p>
          <a:p>
            <a:pPr lvl="1">
              <a:lnSpc>
                <a:spcPct val="118000"/>
              </a:lnSpc>
              <a:spcAft>
                <a:spcPts val="200"/>
              </a:spcAft>
            </a:pPr>
            <a:r>
              <a:rPr lang="en-US">
                <a:solidFill>
                  <a:srgbClr val="555555"/>
                </a:solidFill>
                <a:ea typeface="+mn-lt"/>
                <a:cs typeface="+mn-lt"/>
              </a:rPr>
              <a:t>– Model explains ~78% of variation in monthly visitors (R² ≈ 0.78)</a:t>
            </a:r>
          </a:p>
          <a:p>
            <a:pPr lvl="1">
              <a:lnSpc>
                <a:spcPct val="118000"/>
              </a:lnSpc>
              <a:spcAft>
                <a:spcPts val="200"/>
              </a:spcAft>
            </a:pPr>
            <a:r>
              <a:rPr lang="en-US">
                <a:solidFill>
                  <a:srgbClr val="555555"/>
                </a:solidFill>
                <a:ea typeface="+mn-lt"/>
                <a:cs typeface="+mn-lt"/>
              </a:rPr>
              <a:t>– Provides reliable forecasts of museum attendance trends</a:t>
            </a:r>
          </a:p>
          <a:p>
            <a:pPr lvl="1">
              <a:lnSpc>
                <a:spcPct val="118000"/>
              </a:lnSpc>
              <a:spcAft>
                <a:spcPts val="200"/>
              </a:spcAft>
            </a:pPr>
            <a:r>
              <a:rPr lang="en-US">
                <a:solidFill>
                  <a:srgbClr val="555555"/>
                </a:solidFill>
                <a:ea typeface="+mn-lt"/>
                <a:cs typeface="+mn-lt"/>
              </a:rPr>
              <a:t>-Supports planning for staffing, ticketing, and resource allocation</a:t>
            </a:r>
          </a:p>
          <a:p>
            <a:pPr>
              <a:lnSpc>
                <a:spcPct val="118000"/>
              </a:lnSpc>
              <a:spcAft>
                <a:spcPts val="400"/>
              </a:spcAft>
            </a:pPr>
            <a:r>
              <a:rPr lang="en-US" sz="2000" b="1">
                <a:solidFill>
                  <a:srgbClr val="1F497D"/>
                </a:solidFill>
                <a:ea typeface="+mn-lt"/>
                <a:cs typeface="+mn-lt"/>
              </a:rPr>
              <a:t>• Improves marketing timing:</a:t>
            </a:r>
            <a:endParaRPr lang="en-US" sz="2000">
              <a:solidFill>
                <a:srgbClr val="222222"/>
              </a:solidFill>
              <a:ea typeface="+mn-lt"/>
              <a:cs typeface="+mn-lt"/>
            </a:endParaRPr>
          </a:p>
          <a:p>
            <a:pPr lvl="1">
              <a:lnSpc>
                <a:spcPct val="118000"/>
              </a:lnSpc>
              <a:spcAft>
                <a:spcPts val="200"/>
              </a:spcAft>
            </a:pPr>
            <a:r>
              <a:rPr lang="en-US">
                <a:solidFill>
                  <a:srgbClr val="555555"/>
                </a:solidFill>
                <a:ea typeface="+mn-lt"/>
                <a:cs typeface="+mn-lt"/>
              </a:rPr>
              <a:t>–  Search trends </a:t>
            </a:r>
            <a:r>
              <a:rPr lang="en-US" i="0">
                <a:solidFill>
                  <a:srgbClr val="555555"/>
                </a:solidFill>
                <a:ea typeface="+mn-lt"/>
                <a:cs typeface="+mn-lt"/>
              </a:rPr>
              <a:t>and </a:t>
            </a:r>
            <a:r>
              <a:rPr lang="en-US">
                <a:solidFill>
                  <a:srgbClr val="555555"/>
                </a:solidFill>
                <a:ea typeface="+mn-lt"/>
                <a:cs typeface="+mn-lt"/>
              </a:rPr>
              <a:t>seasonality lead actual museum visits, allowing peaks to be predicted in advance</a:t>
            </a:r>
          </a:p>
          <a:p>
            <a:pPr lvl="1">
              <a:lnSpc>
                <a:spcPct val="118000"/>
              </a:lnSpc>
              <a:spcAft>
                <a:spcPts val="200"/>
              </a:spcAft>
            </a:pPr>
            <a:r>
              <a:rPr lang="en-US">
                <a:solidFill>
                  <a:srgbClr val="555555"/>
                </a:solidFill>
                <a:ea typeface="+mn-lt"/>
                <a:cs typeface="+mn-lt"/>
              </a:rPr>
              <a:t>-Marketing campaigns should be launched before peak periods to maximize impact</a:t>
            </a:r>
          </a:p>
          <a:p>
            <a:pPr>
              <a:lnSpc>
                <a:spcPct val="118000"/>
              </a:lnSpc>
              <a:spcAft>
                <a:spcPts val="400"/>
              </a:spcAft>
            </a:pPr>
            <a:r>
              <a:rPr lang="en-US" sz="2000" b="1" i="0">
                <a:solidFill>
                  <a:srgbClr val="1F497D"/>
                </a:solidFill>
                <a:ea typeface="+mn-lt"/>
                <a:cs typeface="+mn-lt"/>
              </a:rPr>
              <a:t>• </a:t>
            </a:r>
            <a:r>
              <a:rPr lang="en-US" sz="2000" b="1">
                <a:solidFill>
                  <a:srgbClr val="1F497D"/>
                </a:solidFill>
                <a:ea typeface="+mn-lt"/>
                <a:cs typeface="+mn-lt"/>
              </a:rPr>
              <a:t>Identifies demand patterns:</a:t>
            </a:r>
            <a:endParaRPr lang="en-US" sz="2000">
              <a:solidFill>
                <a:srgbClr val="222222"/>
              </a:solidFill>
              <a:ea typeface="+mn-lt"/>
              <a:cs typeface="+mn-lt"/>
            </a:endParaRPr>
          </a:p>
          <a:p>
            <a:pPr lvl="1">
              <a:lnSpc>
                <a:spcPct val="118000"/>
              </a:lnSpc>
              <a:spcAft>
                <a:spcPts val="200"/>
              </a:spcAft>
            </a:pPr>
            <a:r>
              <a:rPr lang="en-US">
                <a:solidFill>
                  <a:srgbClr val="555555"/>
                </a:solidFill>
                <a:ea typeface="+mn-lt"/>
                <a:cs typeface="+mn-lt"/>
              </a:rPr>
              <a:t>–  Historical visitor trends (lag1, lag12) and seasonality are the strongest drivers</a:t>
            </a:r>
            <a:r>
              <a:rPr lang="en-US" b="0" i="0">
                <a:solidFill>
                  <a:srgbClr val="555555"/>
                </a:solidFill>
                <a:ea typeface="+mn-lt"/>
                <a:cs typeface="+mn-lt"/>
              </a:rPr>
              <a:t>, </a:t>
            </a:r>
            <a:r>
              <a:rPr lang="en-US">
                <a:solidFill>
                  <a:srgbClr val="555555"/>
                </a:solidFill>
                <a:ea typeface="+mn-lt"/>
                <a:cs typeface="+mn-lt"/>
              </a:rPr>
              <a:t>showing consistent yearly patterns</a:t>
            </a:r>
          </a:p>
          <a:p>
            <a:pPr lvl="1">
              <a:lnSpc>
                <a:spcPct val="118000"/>
              </a:lnSpc>
              <a:spcAft>
                <a:spcPts val="200"/>
              </a:spcAft>
            </a:pPr>
            <a:r>
              <a:rPr lang="en-US">
                <a:solidFill>
                  <a:srgbClr val="555555"/>
                </a:solidFill>
                <a:ea typeface="+mn-lt"/>
                <a:cs typeface="+mn-lt"/>
              </a:rPr>
              <a:t>-Weather has a smaller but still measurable impact on visitation</a:t>
            </a:r>
          </a:p>
          <a:p>
            <a:pPr>
              <a:lnSpc>
                <a:spcPct val="118000"/>
              </a:lnSpc>
              <a:spcAft>
                <a:spcPts val="400"/>
              </a:spcAft>
            </a:pPr>
            <a:r>
              <a:rPr lang="en-US" sz="2000" b="1">
                <a:solidFill>
                  <a:srgbClr val="1F497D"/>
                </a:solidFill>
                <a:ea typeface="+mn-lt"/>
                <a:cs typeface="+mn-lt"/>
              </a:rPr>
              <a:t>• Reduces uncertainty</a:t>
            </a:r>
            <a:endParaRPr lang="en-US" sz="2000">
              <a:solidFill>
                <a:srgbClr val="222222"/>
              </a:solidFill>
              <a:ea typeface="+mn-lt"/>
              <a:cs typeface="+mn-lt"/>
            </a:endParaRPr>
          </a:p>
          <a:p>
            <a:pPr lvl="1">
              <a:lnSpc>
                <a:spcPct val="118000"/>
              </a:lnSpc>
              <a:spcAft>
                <a:spcPts val="200"/>
              </a:spcAft>
            </a:pPr>
            <a:r>
              <a:rPr lang="en-US">
                <a:solidFill>
                  <a:srgbClr val="555555"/>
                </a:solidFill>
                <a:ea typeface="+mn-lt"/>
                <a:cs typeface="+mn-lt"/>
              </a:rPr>
              <a:t>–  Model outperforms simple guessing by providing measurable accuracy (RMSE ≈ 3,000 </a:t>
            </a:r>
            <a:r>
              <a:rPr lang="en-US" i="0">
                <a:solidFill>
                  <a:srgbClr val="555555"/>
                </a:solidFill>
                <a:ea typeface="+mn-lt"/>
                <a:cs typeface="+mn-lt"/>
              </a:rPr>
              <a:t>visitors</a:t>
            </a:r>
            <a:r>
              <a:rPr lang="en-US">
                <a:solidFill>
                  <a:srgbClr val="555555"/>
                </a:solidFill>
                <a:ea typeface="+mn-lt"/>
                <a:cs typeface="+mn-lt"/>
              </a:rPr>
              <a:t>)</a:t>
            </a:r>
          </a:p>
          <a:p>
            <a:pPr lvl="1">
              <a:lnSpc>
                <a:spcPct val="118000"/>
              </a:lnSpc>
              <a:spcAft>
                <a:spcPts val="200"/>
              </a:spcAft>
            </a:pPr>
            <a:r>
              <a:rPr lang="en-US">
                <a:solidFill>
                  <a:srgbClr val="555555"/>
                </a:solidFill>
                <a:ea typeface="+mn-lt"/>
                <a:cs typeface="+mn-lt"/>
              </a:rPr>
              <a:t>-Gives leadership a realistic range of expected attendance for planning decisions</a:t>
            </a:r>
          </a:p>
        </p:txBody>
      </p:sp>
      <p:sp>
        <p:nvSpPr>
          <p:cNvPr id="6" name="TextBox 5"/>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9" name="TextBox 8">
            <a:extLst>
              <a:ext uri="{FF2B5EF4-FFF2-40B4-BE49-F238E27FC236}">
                <a16:creationId xmlns:a16="http://schemas.microsoft.com/office/drawing/2014/main" id="{AAAB55C5-5D85-7716-4F89-7C0109F0FDD6}"/>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Calibri"/>
                <a:cs typeface="Calibri"/>
              </a:rPr>
              <a:t>25</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28B76-4373-978C-5897-7D4D6EC79E5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124ED68-D38B-0647-6966-B9F7CB325438}"/>
              </a:ext>
            </a:extLst>
          </p:cNvPr>
          <p:cNvSpPr/>
          <p:nvPr/>
        </p:nvSpPr>
        <p:spPr>
          <a:xfrm>
            <a:off x="-13369"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499EDAF-62D4-7141-2D54-12EAABE5CBBA}"/>
              </a:ext>
            </a:extLst>
          </p:cNvPr>
          <p:cNvSpPr txBox="1"/>
          <p:nvPr/>
        </p:nvSpPr>
        <p:spPr>
          <a:xfrm>
            <a:off x="502920" y="320040"/>
            <a:ext cx="11155680" cy="733534"/>
          </a:xfrm>
          <a:prstGeom prst="rect">
            <a:avLst/>
          </a:prstGeom>
          <a:noFill/>
        </p:spPr>
        <p:txBody>
          <a:bodyPr wrap="square" lIns="0" tIns="0" rIns="0" bIns="0" anchor="t">
            <a:spAutoFit/>
          </a:bodyPr>
          <a:lstStyle/>
          <a:p>
            <a:r>
              <a:rPr lang="en-US" sz="3000" b="1">
                <a:solidFill>
                  <a:srgbClr val="1F497D"/>
                </a:solidFill>
                <a:latin typeface="Calibri"/>
                <a:ea typeface="Calibri"/>
                <a:cs typeface="Calibri"/>
              </a:rPr>
              <a:t>Model Result – Continued </a:t>
            </a:r>
            <a:endParaRPr lang="en-US" sz="3000" b="1" i="0">
              <a:solidFill>
                <a:srgbClr val="1F497D"/>
              </a:solidFill>
              <a:latin typeface="Calibri"/>
              <a:ea typeface="Calibri"/>
              <a:cs typeface="Calibri"/>
            </a:endParaRPr>
          </a:p>
          <a:p>
            <a:pPr>
              <a:spcBef>
                <a:spcPts val="200"/>
              </a:spcBef>
            </a:pPr>
            <a:r>
              <a:rPr sz="1600" b="0" i="1">
                <a:solidFill>
                  <a:srgbClr val="555555"/>
                </a:solidFill>
                <a:latin typeface="Calibri"/>
              </a:rPr>
              <a:t>What </a:t>
            </a:r>
            <a:r>
              <a:rPr lang="en-US" sz="1600" i="1">
                <a:solidFill>
                  <a:srgbClr val="555555"/>
                </a:solidFill>
                <a:latin typeface="Calibri"/>
              </a:rPr>
              <a:t>did we find?</a:t>
            </a:r>
            <a:endParaRPr lang="en-US" sz="1600" b="0" i="1">
              <a:solidFill>
                <a:srgbClr val="555555"/>
              </a:solidFill>
              <a:latin typeface="Calibri"/>
              <a:ea typeface="Calibri"/>
              <a:cs typeface="Calibri"/>
            </a:endParaRPr>
          </a:p>
        </p:txBody>
      </p:sp>
      <p:sp>
        <p:nvSpPr>
          <p:cNvPr id="4" name="Rectangle 3">
            <a:extLst>
              <a:ext uri="{FF2B5EF4-FFF2-40B4-BE49-F238E27FC236}">
                <a16:creationId xmlns:a16="http://schemas.microsoft.com/office/drawing/2014/main" id="{1CE16832-18EC-73B5-CDE3-CBFC81BD0DC1}"/>
              </a:ext>
            </a:extLst>
          </p:cNvPr>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235C1D93-2B16-0673-53FE-D89873316856}"/>
              </a:ext>
            </a:extLst>
          </p:cNvPr>
          <p:cNvSpPr txBox="1"/>
          <p:nvPr/>
        </p:nvSpPr>
        <p:spPr>
          <a:xfrm>
            <a:off x="462816" y="1125354"/>
            <a:ext cx="11142311" cy="5740161"/>
          </a:xfrm>
          <a:prstGeom prst="rect">
            <a:avLst/>
          </a:prstGeom>
          <a:noFill/>
        </p:spPr>
        <p:txBody>
          <a:bodyPr wrap="square" lIns="45720" tIns="45720" rIns="45720" bIns="45720" anchor="t">
            <a:spAutoFit/>
          </a:bodyPr>
          <a:lstStyle/>
          <a:p>
            <a:pPr>
              <a:lnSpc>
                <a:spcPct val="118000"/>
              </a:lnSpc>
              <a:spcAft>
                <a:spcPts val="400"/>
              </a:spcAft>
            </a:pPr>
            <a:r>
              <a:rPr lang="en-US" sz="2800" b="1">
                <a:solidFill>
                  <a:srgbClr val="1F497D"/>
                </a:solidFill>
                <a:ea typeface="+mn-lt"/>
                <a:cs typeface="+mn-lt"/>
              </a:rPr>
              <a:t>Forecast:</a:t>
            </a:r>
            <a:endParaRPr lang="en-US" sz="2800">
              <a:solidFill>
                <a:srgbClr val="222222"/>
              </a:solidFill>
              <a:ea typeface="+mn-lt"/>
              <a:cs typeface="+mn-lt"/>
            </a:endParaRPr>
          </a:p>
          <a:p>
            <a:pPr marL="285750" indent="-285750">
              <a:buFont typeface="Calibri"/>
              <a:buChar char="-"/>
            </a:pPr>
            <a:r>
              <a:rPr lang="en-US" sz="2000" b="1">
                <a:solidFill>
                  <a:srgbClr val="1F497D"/>
                </a:solidFill>
                <a:ea typeface="+mn-lt"/>
                <a:cs typeface="+mn-lt"/>
              </a:rPr>
              <a:t>How many visitors should we expect next month?</a:t>
            </a:r>
            <a:endParaRPr lang="en-US">
              <a:ea typeface="+mn-lt"/>
              <a:cs typeface="+mn-lt"/>
            </a:endParaRPr>
          </a:p>
          <a:p>
            <a:pPr lvl="1">
              <a:lnSpc>
                <a:spcPct val="118000"/>
              </a:lnSpc>
              <a:spcAft>
                <a:spcPts val="200"/>
              </a:spcAft>
            </a:pPr>
            <a:r>
              <a:rPr lang="en-US" sz="2000">
                <a:ea typeface="+mn-lt"/>
                <a:cs typeface="+mn-lt"/>
              </a:rPr>
              <a:t> </a:t>
            </a:r>
            <a:r>
              <a:rPr lang="en-US">
                <a:solidFill>
                  <a:srgbClr val="555555"/>
                </a:solidFill>
                <a:ea typeface="+mn-lt"/>
                <a:cs typeface="+mn-lt"/>
              </a:rPr>
              <a:t>-</a:t>
            </a:r>
            <a:r>
              <a:rPr lang="en-US" err="1">
                <a:solidFill>
                  <a:srgbClr val="555555"/>
                </a:solidFill>
                <a:ea typeface="+mn-lt"/>
                <a:cs typeface="+mn-lt"/>
              </a:rPr>
              <a:t>Model </a:t>
            </a:r>
            <a:r>
              <a:rPr lang="en-US">
                <a:solidFill>
                  <a:srgbClr val="555555"/>
                </a:solidFill>
                <a:ea typeface="+mn-lt"/>
                <a:cs typeface="+mn-lt"/>
              </a:rPr>
              <a:t>can generate a prediction using recent data, with an expected error of about ±3,000 visitors.</a:t>
            </a:r>
          </a:p>
          <a:p>
            <a:pPr lvl="1">
              <a:lnSpc>
                <a:spcPct val="118000"/>
              </a:lnSpc>
              <a:spcAft>
                <a:spcPts val="200"/>
              </a:spcAft>
            </a:pPr>
            <a:r>
              <a:rPr lang="en-US">
                <a:solidFill>
                  <a:srgbClr val="555555"/>
                </a:solidFill>
                <a:ea typeface="+mn-lt"/>
                <a:cs typeface="+mn-lt"/>
              </a:rPr>
              <a:t> -Most important inputs are last month’s visitors and same month last year.</a:t>
            </a:r>
          </a:p>
          <a:p>
            <a:pPr marL="285750" indent="-285750">
              <a:buFont typeface="Calibri"/>
              <a:buChar char="-"/>
            </a:pPr>
            <a:r>
              <a:rPr lang="en-US" sz="2000" b="1">
                <a:solidFill>
                  <a:srgbClr val="1F497D"/>
                </a:solidFill>
                <a:ea typeface="+mn-lt"/>
                <a:cs typeface="+mn-lt"/>
              </a:rPr>
              <a:t>How much does weather influence attendance?</a:t>
            </a:r>
            <a:endParaRPr lang="en-US" sz="2000">
              <a:solidFill>
                <a:srgbClr val="1F497D"/>
              </a:solidFill>
              <a:ea typeface="+mn-lt"/>
              <a:cs typeface="+mn-lt"/>
            </a:endParaRPr>
          </a:p>
          <a:p>
            <a:pPr lvl="1">
              <a:lnSpc>
                <a:spcPct val="118000"/>
              </a:lnSpc>
              <a:spcAft>
                <a:spcPts val="200"/>
              </a:spcAft>
            </a:pPr>
            <a:r>
              <a:rPr lang="en-US">
                <a:ea typeface="+mn-lt"/>
                <a:cs typeface="+mn-lt"/>
              </a:rPr>
              <a:t> </a:t>
            </a:r>
            <a:r>
              <a:rPr lang="en-US">
                <a:solidFill>
                  <a:srgbClr val="555555"/>
                </a:solidFill>
                <a:ea typeface="+mn-lt"/>
                <a:cs typeface="+mn-lt"/>
              </a:rPr>
              <a:t>-Weather has some influence, especially temperature and precipitation</a:t>
            </a:r>
          </a:p>
          <a:p>
            <a:pPr lvl="1">
              <a:lnSpc>
                <a:spcPct val="118000"/>
              </a:lnSpc>
              <a:spcAft>
                <a:spcPts val="200"/>
              </a:spcAft>
            </a:pPr>
            <a:r>
              <a:rPr lang="en-US">
                <a:solidFill>
                  <a:srgbClr val="555555"/>
                </a:solidFill>
                <a:ea typeface="+mn-lt"/>
                <a:cs typeface="+mn-lt"/>
              </a:rPr>
              <a:t> -Seasonality and historical trends matter more </a:t>
            </a:r>
          </a:p>
          <a:p>
            <a:pPr marL="285750" indent="-285750">
              <a:buFont typeface="Calibri"/>
              <a:buChar char="-"/>
            </a:pPr>
            <a:r>
              <a:rPr lang="en-US" sz="2000" b="1">
                <a:solidFill>
                  <a:srgbClr val="1F497D"/>
                </a:solidFill>
                <a:ea typeface="+mn-lt"/>
                <a:cs typeface="+mn-lt"/>
              </a:rPr>
              <a:t>Which search themes track real visitation?</a:t>
            </a:r>
            <a:r>
              <a:rPr lang="en-US" sz="2000">
                <a:solidFill>
                  <a:srgbClr val="1F497D"/>
                </a:solidFill>
                <a:ea typeface="+mn-lt"/>
                <a:cs typeface="+mn-lt"/>
              </a:rPr>
              <a:t> </a:t>
            </a:r>
            <a:endParaRPr lang="en-US">
              <a:ea typeface="+mn-lt"/>
              <a:cs typeface="+mn-lt"/>
            </a:endParaRPr>
          </a:p>
          <a:p>
            <a:pPr lvl="1">
              <a:lnSpc>
                <a:spcPct val="118000"/>
              </a:lnSpc>
              <a:spcAft>
                <a:spcPts val="200"/>
              </a:spcAft>
            </a:pPr>
            <a:r>
              <a:rPr lang="en-US">
                <a:ea typeface="+mn-lt"/>
                <a:cs typeface="+mn-lt"/>
              </a:rPr>
              <a:t> </a:t>
            </a:r>
            <a:r>
              <a:rPr lang="en-US">
                <a:solidFill>
                  <a:srgbClr val="555555"/>
                </a:solidFill>
                <a:ea typeface="+mn-lt"/>
                <a:cs typeface="+mn-lt"/>
              </a:rPr>
              <a:t>-“LA attractions” </a:t>
            </a:r>
          </a:p>
          <a:p>
            <a:pPr lvl="1">
              <a:lnSpc>
                <a:spcPct val="118000"/>
              </a:lnSpc>
              <a:spcAft>
                <a:spcPts val="200"/>
              </a:spcAft>
            </a:pPr>
            <a:r>
              <a:rPr lang="en-US">
                <a:solidFill>
                  <a:srgbClr val="555555"/>
                </a:solidFill>
                <a:ea typeface="+mn-lt"/>
                <a:cs typeface="+mn-lt"/>
              </a:rPr>
              <a:t> -Museum-related activities</a:t>
            </a:r>
          </a:p>
          <a:p>
            <a:pPr lvl="1">
              <a:lnSpc>
                <a:spcPct val="118000"/>
              </a:lnSpc>
              <a:spcAft>
                <a:spcPts val="200"/>
              </a:spcAft>
            </a:pPr>
            <a:r>
              <a:rPr lang="en-US">
                <a:solidFill>
                  <a:srgbClr val="555555"/>
                </a:solidFill>
                <a:ea typeface="+mn-lt"/>
                <a:cs typeface="+mn-lt"/>
              </a:rPr>
              <a:t> -Showed strong alignment with visitor counts, acting as a leading indicator of demand.</a:t>
            </a:r>
          </a:p>
          <a:p>
            <a:pPr marL="285750" indent="-285750">
              <a:buFont typeface="Calibri"/>
              <a:buChar char="-"/>
            </a:pPr>
            <a:r>
              <a:rPr lang="en-US" sz="2000" b="1">
                <a:solidFill>
                  <a:srgbClr val="1F497D"/>
                </a:solidFill>
                <a:ea typeface="+mn-lt"/>
                <a:cs typeface="+mn-lt"/>
              </a:rPr>
              <a:t>When should marketing campaigns launch?:</a:t>
            </a:r>
            <a:r>
              <a:rPr lang="en-US" sz="2000">
                <a:solidFill>
                  <a:srgbClr val="1F497D"/>
                </a:solidFill>
                <a:ea typeface="+mn-lt"/>
                <a:cs typeface="+mn-lt"/>
              </a:rPr>
              <a:t> </a:t>
            </a:r>
            <a:endParaRPr lang="en-US">
              <a:solidFill>
                <a:srgbClr val="000000"/>
              </a:solidFill>
              <a:ea typeface="+mn-lt"/>
              <a:cs typeface="+mn-lt"/>
            </a:endParaRPr>
          </a:p>
          <a:p>
            <a:pPr lvl="1">
              <a:lnSpc>
                <a:spcPct val="118000"/>
              </a:lnSpc>
              <a:spcAft>
                <a:spcPts val="200"/>
              </a:spcAft>
            </a:pPr>
            <a:r>
              <a:rPr lang="en-US">
                <a:solidFill>
                  <a:srgbClr val="1F497D"/>
                </a:solidFill>
                <a:ea typeface="+mn-lt"/>
                <a:cs typeface="+mn-lt"/>
              </a:rPr>
              <a:t> </a:t>
            </a:r>
            <a:r>
              <a:rPr lang="en-US">
                <a:solidFill>
                  <a:srgbClr val="555555"/>
                </a:solidFill>
                <a:ea typeface="+mn-lt"/>
                <a:cs typeface="+mn-lt"/>
              </a:rPr>
              <a:t>-Launch campaigns before peaks; Search interest rises before visits increase</a:t>
            </a:r>
          </a:p>
          <a:p>
            <a:pPr lvl="1">
              <a:lnSpc>
                <a:spcPct val="118000"/>
              </a:lnSpc>
              <a:spcAft>
                <a:spcPts val="200"/>
              </a:spcAft>
            </a:pPr>
            <a:r>
              <a:rPr lang="en-US">
                <a:solidFill>
                  <a:srgbClr val="555555"/>
                </a:solidFill>
                <a:ea typeface="+mn-lt"/>
                <a:cs typeface="+mn-lt"/>
              </a:rPr>
              <a:t> -The model confirms lagged behavior in demand</a:t>
            </a:r>
          </a:p>
          <a:p>
            <a:r>
              <a:rPr lang="en-US" sz="2000">
                <a:solidFill>
                  <a:srgbClr val="000000"/>
                </a:solidFill>
                <a:ea typeface="Calibri"/>
                <a:cs typeface="Calibri"/>
              </a:rPr>
              <a:t> </a:t>
            </a:r>
          </a:p>
          <a:p>
            <a:pPr>
              <a:lnSpc>
                <a:spcPct val="118000"/>
              </a:lnSpc>
              <a:spcAft>
                <a:spcPts val="400"/>
              </a:spcAft>
            </a:pPr>
            <a:endParaRPr lang="en-US" sz="2000" b="1">
              <a:solidFill>
                <a:srgbClr val="1F497D"/>
              </a:solidFill>
              <a:ea typeface="Calibri"/>
              <a:cs typeface="Calibri"/>
            </a:endParaRPr>
          </a:p>
        </p:txBody>
      </p:sp>
      <p:sp>
        <p:nvSpPr>
          <p:cNvPr id="6" name="TextBox 5">
            <a:extLst>
              <a:ext uri="{FF2B5EF4-FFF2-40B4-BE49-F238E27FC236}">
                <a16:creationId xmlns:a16="http://schemas.microsoft.com/office/drawing/2014/main" id="{AC085864-B779-E4B8-2067-64E20D1B63A6}"/>
              </a:ext>
            </a:extLst>
          </p:cNvPr>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9" name="TextBox 8">
            <a:extLst>
              <a:ext uri="{FF2B5EF4-FFF2-40B4-BE49-F238E27FC236}">
                <a16:creationId xmlns:a16="http://schemas.microsoft.com/office/drawing/2014/main" id="{2BE99E66-CF64-BAB1-BB53-9D2442993463}"/>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Calibri"/>
                <a:cs typeface="Calibri"/>
              </a:rPr>
              <a:t>26</a:t>
            </a:r>
            <a:endParaRPr lang="en-US" dirty="0"/>
          </a:p>
        </p:txBody>
      </p:sp>
    </p:spTree>
    <p:extLst>
      <p:ext uri="{BB962C8B-B14F-4D97-AF65-F5344CB8AC3E}">
        <p14:creationId xmlns:p14="http://schemas.microsoft.com/office/powerpoint/2010/main" val="2864640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DE4DF-A8FA-89A5-EB2B-9BB5A2FFB10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1113C66-A5E8-D40F-2FA4-E81468259325}"/>
              </a:ext>
            </a:extLst>
          </p:cNvPr>
          <p:cNvSpPr/>
          <p:nvPr/>
        </p:nvSpPr>
        <p:spPr>
          <a:xfrm>
            <a:off x="0" y="-120316"/>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5A763DB5-A521-5746-2288-722B4B05E7B9}"/>
              </a:ext>
            </a:extLst>
          </p:cNvPr>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Key Takeaways</a:t>
            </a:r>
          </a:p>
          <a:p>
            <a:pPr algn="l">
              <a:spcBef>
                <a:spcPts val="200"/>
              </a:spcBef>
            </a:pPr>
            <a:r>
              <a:rPr sz="1600" b="0" i="1">
                <a:solidFill>
                  <a:srgbClr val="555555"/>
                </a:solidFill>
                <a:latin typeface="Calibri"/>
              </a:rPr>
              <a:t>What actually drove monthly museum visitation</a:t>
            </a:r>
            <a:endParaRPr sz="1600" b="0" i="1">
              <a:solidFill>
                <a:srgbClr val="555555"/>
              </a:solidFill>
              <a:latin typeface="Calibri"/>
              <a:ea typeface="Calibri"/>
              <a:cs typeface="Calibri"/>
            </a:endParaRPr>
          </a:p>
        </p:txBody>
      </p:sp>
      <p:sp>
        <p:nvSpPr>
          <p:cNvPr id="4" name="Rectangle 3">
            <a:extLst>
              <a:ext uri="{FF2B5EF4-FFF2-40B4-BE49-F238E27FC236}">
                <a16:creationId xmlns:a16="http://schemas.microsoft.com/office/drawing/2014/main" id="{735D2C5A-31E2-0F6D-086F-61857FECA3E1}"/>
              </a:ext>
            </a:extLst>
          </p:cNvPr>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96D1B002-991F-9AD2-63B1-15DBE5B730C4}"/>
              </a:ext>
            </a:extLst>
          </p:cNvPr>
          <p:cNvSpPr txBox="1"/>
          <p:nvPr/>
        </p:nvSpPr>
        <p:spPr>
          <a:xfrm>
            <a:off x="502920" y="1325880"/>
            <a:ext cx="11155680" cy="4233467"/>
          </a:xfrm>
          <a:prstGeom prst="rect">
            <a:avLst/>
          </a:prstGeom>
          <a:noFill/>
        </p:spPr>
        <p:txBody>
          <a:bodyPr wrap="square" lIns="45720" tIns="45720" rIns="45720" bIns="45720" anchor="t">
            <a:spAutoFit/>
          </a:bodyPr>
          <a:lstStyle/>
          <a:p>
            <a:pPr>
              <a:lnSpc>
                <a:spcPct val="118000"/>
              </a:lnSpc>
              <a:spcAft>
                <a:spcPts val="400"/>
              </a:spcAft>
            </a:pPr>
            <a:r>
              <a:rPr sz="2000" b="1" i="0">
                <a:solidFill>
                  <a:srgbClr val="1F497D"/>
                </a:solidFill>
                <a:latin typeface="Calibri"/>
              </a:rPr>
              <a:t>•  </a:t>
            </a:r>
            <a:r>
              <a:rPr sz="2000" b="0" i="0">
                <a:solidFill>
                  <a:srgbClr val="222222"/>
                </a:solidFill>
                <a:latin typeface="Calibri"/>
              </a:rPr>
              <a:t>Past visitation dominated the signal</a:t>
            </a:r>
            <a:endParaRPr lang="en-US" sz="2000" b="0" i="0">
              <a:solidFill>
                <a:srgbClr val="222222"/>
              </a:solidFill>
              <a:latin typeface="Calibri"/>
              <a:ea typeface="Calibri"/>
              <a:cs typeface="Calibri"/>
            </a:endParaRPr>
          </a:p>
          <a:p>
            <a:pPr lvl="1">
              <a:lnSpc>
                <a:spcPct val="118000"/>
              </a:lnSpc>
              <a:spcAft>
                <a:spcPts val="200"/>
              </a:spcAft>
            </a:pPr>
            <a:r>
              <a:rPr b="0" i="0">
                <a:solidFill>
                  <a:srgbClr val="555555"/>
                </a:solidFill>
                <a:latin typeface="Calibri"/>
              </a:rPr>
              <a:t>–  visitors_lag1 and visitors_lag12 carried the model</a:t>
            </a:r>
            <a:endParaRPr b="0" i="0">
              <a:solidFill>
                <a:srgbClr val="555555"/>
              </a:solidFill>
              <a:latin typeface="Calibri"/>
              <a:ea typeface="Calibri"/>
              <a:cs typeface="Calibri"/>
            </a:endParaRPr>
          </a:p>
          <a:p>
            <a:pPr lvl="1">
              <a:lnSpc>
                <a:spcPct val="118000"/>
              </a:lnSpc>
              <a:spcAft>
                <a:spcPts val="200"/>
              </a:spcAft>
            </a:pPr>
            <a:r>
              <a:rPr b="0" i="0">
                <a:solidFill>
                  <a:srgbClr val="555555"/>
                </a:solidFill>
                <a:latin typeface="Calibri"/>
              </a:rPr>
              <a:t>–  Same-month-prior-year captured the annual cycle</a:t>
            </a:r>
            <a:endParaRPr b="0" i="0">
              <a:solidFill>
                <a:srgbClr val="555555"/>
              </a:solidFill>
              <a:latin typeface="Calibri"/>
              <a:ea typeface="Calibri"/>
              <a:cs typeface="Calibri"/>
            </a:endParaRPr>
          </a:p>
          <a:p>
            <a:pPr>
              <a:lnSpc>
                <a:spcPct val="118000"/>
              </a:lnSpc>
              <a:spcAft>
                <a:spcPts val="400"/>
              </a:spcAft>
            </a:pPr>
            <a:r>
              <a:rPr sz="2000" b="1" i="0">
                <a:solidFill>
                  <a:srgbClr val="1F497D"/>
                </a:solidFill>
                <a:latin typeface="Calibri"/>
              </a:rPr>
              <a:t>•  </a:t>
            </a:r>
            <a:r>
              <a:rPr sz="2000" b="0" i="0">
                <a:solidFill>
                  <a:srgbClr val="222222"/>
                </a:solidFill>
                <a:latin typeface="Calibri"/>
              </a:rPr>
              <a:t>Weather had no meaningful trend</a:t>
            </a:r>
            <a:endParaRPr sz="2000" b="0" i="0">
              <a:solidFill>
                <a:srgbClr val="222222"/>
              </a:solidFill>
              <a:latin typeface="Calibri"/>
              <a:ea typeface="Calibri"/>
              <a:cs typeface="Calibri"/>
            </a:endParaRPr>
          </a:p>
          <a:p>
            <a:pPr lvl="1">
              <a:lnSpc>
                <a:spcPct val="118000"/>
              </a:lnSpc>
              <a:spcAft>
                <a:spcPts val="200"/>
              </a:spcAft>
            </a:pPr>
            <a:r>
              <a:rPr b="0" i="0">
                <a:solidFill>
                  <a:srgbClr val="555555"/>
                </a:solidFill>
                <a:latin typeface="Calibri"/>
              </a:rPr>
              <a:t>–  Temperature, precipitation, and wind were near-zero contributors</a:t>
            </a:r>
            <a:endParaRPr b="0" i="0">
              <a:solidFill>
                <a:srgbClr val="555555"/>
              </a:solidFill>
              <a:latin typeface="Calibri"/>
              <a:ea typeface="Calibri"/>
              <a:cs typeface="Calibri"/>
            </a:endParaRPr>
          </a:p>
          <a:p>
            <a:pPr>
              <a:lnSpc>
                <a:spcPct val="118000"/>
              </a:lnSpc>
              <a:spcAft>
                <a:spcPts val="400"/>
              </a:spcAft>
            </a:pPr>
            <a:r>
              <a:rPr sz="2000" b="1" i="0">
                <a:solidFill>
                  <a:srgbClr val="1F497D"/>
                </a:solidFill>
                <a:latin typeface="Calibri"/>
              </a:rPr>
              <a:t>•  </a:t>
            </a:r>
            <a:r>
              <a:rPr sz="2000" b="0" i="0">
                <a:solidFill>
                  <a:srgbClr val="222222"/>
                </a:solidFill>
                <a:latin typeface="Calibri"/>
              </a:rPr>
              <a:t>Google Trends contributed marginally</a:t>
            </a:r>
            <a:endParaRPr sz="2000" b="0" i="0">
              <a:solidFill>
                <a:srgbClr val="222222"/>
              </a:solidFill>
              <a:latin typeface="Calibri"/>
              <a:ea typeface="Calibri"/>
              <a:cs typeface="Calibri"/>
            </a:endParaRPr>
          </a:p>
          <a:p>
            <a:pPr lvl="1">
              <a:lnSpc>
                <a:spcPct val="118000"/>
              </a:lnSpc>
              <a:spcAft>
                <a:spcPts val="200"/>
              </a:spcAft>
            </a:pPr>
            <a:r>
              <a:rPr b="0" i="0">
                <a:solidFill>
                  <a:srgbClr val="555555"/>
                </a:solidFill>
                <a:latin typeface="Calibri"/>
              </a:rPr>
              <a:t>–  A few tourism / discovery terms helped, but lag features dwarfed them in importance</a:t>
            </a:r>
            <a:endParaRPr b="0" i="0">
              <a:solidFill>
                <a:srgbClr val="555555"/>
              </a:solidFill>
              <a:latin typeface="Calibri"/>
              <a:ea typeface="Calibri"/>
              <a:cs typeface="Calibri"/>
            </a:endParaRPr>
          </a:p>
          <a:p>
            <a:pPr>
              <a:lnSpc>
                <a:spcPct val="118000"/>
              </a:lnSpc>
              <a:spcAft>
                <a:spcPts val="400"/>
              </a:spcAft>
            </a:pPr>
            <a:r>
              <a:rPr sz="2000" b="1" i="0">
                <a:solidFill>
                  <a:srgbClr val="1F497D"/>
                </a:solidFill>
                <a:latin typeface="Calibri"/>
              </a:rPr>
              <a:t>•  </a:t>
            </a:r>
            <a:r>
              <a:rPr sz="2000" b="0" i="0">
                <a:solidFill>
                  <a:srgbClr val="222222"/>
                </a:solidFill>
                <a:latin typeface="Calibri"/>
              </a:rPr>
              <a:t>Many predictors were duplicates / collinear</a:t>
            </a:r>
            <a:endParaRPr sz="2000" b="0" i="0">
              <a:solidFill>
                <a:srgbClr val="222222"/>
              </a:solidFill>
              <a:latin typeface="Calibri"/>
              <a:ea typeface="Calibri"/>
              <a:cs typeface="Calibri"/>
            </a:endParaRPr>
          </a:p>
          <a:p>
            <a:pPr lvl="1">
              <a:lnSpc>
                <a:spcPct val="118000"/>
              </a:lnSpc>
              <a:spcAft>
                <a:spcPts val="200"/>
              </a:spcAft>
            </a:pPr>
            <a:r>
              <a:rPr b="0" i="0">
                <a:solidFill>
                  <a:srgbClr val="555555"/>
                </a:solidFill>
                <a:latin typeface="Calibri"/>
              </a:rPr>
              <a:t>–  Linear Regression went to negative R²; Lasso's L1 fixed it</a:t>
            </a:r>
            <a:endParaRPr b="0" i="0">
              <a:solidFill>
                <a:srgbClr val="555555"/>
              </a:solidFill>
              <a:latin typeface="Calibri"/>
              <a:ea typeface="Calibri"/>
              <a:cs typeface="Calibri"/>
            </a:endParaRPr>
          </a:p>
          <a:p>
            <a:pPr>
              <a:lnSpc>
                <a:spcPct val="118000"/>
              </a:lnSpc>
              <a:spcAft>
                <a:spcPts val="400"/>
              </a:spcAft>
            </a:pPr>
            <a:r>
              <a:rPr sz="2000" b="1" i="0">
                <a:solidFill>
                  <a:srgbClr val="1F497D"/>
                </a:solidFill>
                <a:latin typeface="Calibri"/>
              </a:rPr>
              <a:t>•  </a:t>
            </a:r>
            <a:r>
              <a:rPr sz="2000" b="0" i="0">
                <a:solidFill>
                  <a:srgbClr val="222222"/>
                </a:solidFill>
                <a:latin typeface="Calibri"/>
              </a:rPr>
              <a:t>LASSO-LARS won on RMSE / MAE / R²</a:t>
            </a:r>
            <a:endParaRPr sz="2000" b="0" i="0">
              <a:solidFill>
                <a:srgbClr val="222222"/>
              </a:solidFill>
              <a:latin typeface="Calibri"/>
              <a:ea typeface="Calibri"/>
              <a:cs typeface="Calibri"/>
            </a:endParaRPr>
          </a:p>
          <a:p>
            <a:pPr lvl="1">
              <a:lnSpc>
                <a:spcPct val="118000"/>
              </a:lnSpc>
              <a:spcAft>
                <a:spcPts val="200"/>
              </a:spcAft>
            </a:pPr>
            <a:r>
              <a:rPr b="0" i="0">
                <a:solidFill>
                  <a:srgbClr val="555555"/>
                </a:solidFill>
                <a:latin typeface="Calibri"/>
              </a:rPr>
              <a:t>–  Best of six models; RF independently confirmed visitors_lag12 dominance</a:t>
            </a:r>
            <a:endParaRPr b="0" i="0">
              <a:solidFill>
                <a:srgbClr val="555555"/>
              </a:solidFill>
              <a:latin typeface="Calibri"/>
              <a:ea typeface="Calibri"/>
              <a:cs typeface="Calibri"/>
            </a:endParaRPr>
          </a:p>
        </p:txBody>
      </p:sp>
      <p:sp>
        <p:nvSpPr>
          <p:cNvPr id="6" name="TextBox 5">
            <a:extLst>
              <a:ext uri="{FF2B5EF4-FFF2-40B4-BE49-F238E27FC236}">
                <a16:creationId xmlns:a16="http://schemas.microsoft.com/office/drawing/2014/main" id="{5E84AFA3-AD22-15E9-5615-D2601F366EA0}"/>
              </a:ext>
            </a:extLst>
          </p:cNvPr>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9" name="TextBox 8">
            <a:extLst>
              <a:ext uri="{FF2B5EF4-FFF2-40B4-BE49-F238E27FC236}">
                <a16:creationId xmlns:a16="http://schemas.microsoft.com/office/drawing/2014/main" id="{38A0F3B1-CC49-4131-8B1F-CB6CDC7C5168}"/>
              </a:ext>
            </a:extLst>
          </p:cNvPr>
          <p:cNvSpPr txBox="1"/>
          <p:nvPr/>
        </p:nvSpPr>
        <p:spPr>
          <a:xfrm>
            <a:off x="11368585" y="6390625"/>
            <a:ext cx="58861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Calibri"/>
                <a:cs typeface="Calibri"/>
              </a:rPr>
              <a:t>27</a:t>
            </a:r>
          </a:p>
          <a:p>
            <a:endParaRPr lang="en-US" dirty="0">
              <a:ea typeface="Calibri"/>
              <a:cs typeface="Calibri"/>
            </a:endParaRPr>
          </a:p>
        </p:txBody>
      </p:sp>
    </p:spTree>
    <p:extLst>
      <p:ext uri="{BB962C8B-B14F-4D97-AF65-F5344CB8AC3E}">
        <p14:creationId xmlns:p14="http://schemas.microsoft.com/office/powerpoint/2010/main" val="1413321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Limitations</a:t>
            </a:r>
          </a:p>
          <a:p>
            <a:pPr algn="l">
              <a:spcBef>
                <a:spcPts val="200"/>
              </a:spcBef>
            </a:pPr>
            <a:r>
              <a:rPr sz="1600" b="0" i="1">
                <a:solidFill>
                  <a:srgbClr val="555555"/>
                </a:solidFill>
                <a:latin typeface="Calibri"/>
              </a:rPr>
              <a:t>Caveats to keep in mind when interpreting results</a:t>
            </a:r>
            <a:endParaRPr sz="1600" b="0" i="1">
              <a:solidFill>
                <a:srgbClr val="555555"/>
              </a:solidFill>
              <a:latin typeface="Calibri"/>
              <a:ea typeface="Calibri"/>
              <a:cs typeface="Calibri"/>
            </a:endParaRP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25880"/>
            <a:ext cx="11155680" cy="3880934"/>
          </a:xfrm>
          <a:prstGeom prst="rect">
            <a:avLst/>
          </a:prstGeom>
          <a:noFill/>
        </p:spPr>
        <p:txBody>
          <a:bodyPr wrap="square" lIns="45720" tIns="45720" rIns="45720" bIns="45720" anchor="t">
            <a:spAutoFit/>
          </a:bodyPr>
          <a:lstStyle/>
          <a:p>
            <a:pPr>
              <a:lnSpc>
                <a:spcPct val="118000"/>
              </a:lnSpc>
              <a:spcAft>
                <a:spcPts val="400"/>
              </a:spcAft>
            </a:pPr>
            <a:r>
              <a:rPr sz="2000" b="1" i="0">
                <a:solidFill>
                  <a:srgbClr val="1F497D"/>
                </a:solidFill>
                <a:latin typeface="Calibri"/>
              </a:rPr>
              <a:t>•  </a:t>
            </a:r>
            <a:r>
              <a:rPr sz="2000" b="0" i="0">
                <a:solidFill>
                  <a:srgbClr val="222222"/>
                </a:solidFill>
                <a:latin typeface="Calibri"/>
              </a:rPr>
              <a:t>Short history</a:t>
            </a:r>
          </a:p>
          <a:p>
            <a:pPr lvl="1">
              <a:lnSpc>
                <a:spcPct val="118000"/>
              </a:lnSpc>
              <a:spcAft>
                <a:spcPts val="200"/>
              </a:spcAft>
            </a:pPr>
            <a:r>
              <a:rPr b="0" i="0">
                <a:solidFill>
                  <a:srgbClr val="555555"/>
                </a:solidFill>
                <a:latin typeface="Calibri"/>
              </a:rPr>
              <a:t>–  Final modeling table = ~80 monthly rows after joins</a:t>
            </a:r>
            <a:endParaRPr b="0" i="0">
              <a:solidFill>
                <a:srgbClr val="555555"/>
              </a:solidFill>
              <a:latin typeface="Calibri"/>
              <a:ea typeface="Calibri"/>
              <a:cs typeface="Calibri"/>
            </a:endParaRPr>
          </a:p>
          <a:p>
            <a:pPr>
              <a:lnSpc>
                <a:spcPct val="118000"/>
              </a:lnSpc>
              <a:spcAft>
                <a:spcPts val="400"/>
              </a:spcAft>
            </a:pPr>
            <a:r>
              <a:rPr sz="1800" b="1" i="0">
                <a:solidFill>
                  <a:srgbClr val="1F497D"/>
                </a:solidFill>
                <a:latin typeface="Calibri"/>
              </a:rPr>
              <a:t>• </a:t>
            </a:r>
            <a:r>
              <a:rPr sz="2000" b="1" i="0" dirty="0">
                <a:solidFill>
                  <a:srgbClr val="1F497D"/>
                </a:solidFill>
                <a:latin typeface="Calibri"/>
              </a:rPr>
              <a:t> </a:t>
            </a:r>
            <a:r>
              <a:rPr sz="2000" b="0" i="0">
                <a:solidFill>
                  <a:srgbClr val="222222"/>
                </a:solidFill>
                <a:latin typeface="Calibri"/>
              </a:rPr>
              <a:t>Single museum / single city</a:t>
            </a:r>
            <a:endParaRPr sz="2000" b="0" i="0">
              <a:solidFill>
                <a:srgbClr val="222222"/>
              </a:solidFill>
              <a:latin typeface="Calibri"/>
              <a:ea typeface="Calibri"/>
              <a:cs typeface="Calibri"/>
            </a:endParaRPr>
          </a:p>
          <a:p>
            <a:pPr lvl="1">
              <a:lnSpc>
                <a:spcPct val="118000"/>
              </a:lnSpc>
              <a:spcAft>
                <a:spcPts val="200"/>
              </a:spcAft>
            </a:pPr>
            <a:r>
              <a:rPr b="0" i="0">
                <a:solidFill>
                  <a:srgbClr val="555555"/>
                </a:solidFill>
                <a:latin typeface="Calibri"/>
              </a:rPr>
              <a:t>–  Avila Adobe in Los Angeles — not yet generalizable</a:t>
            </a:r>
            <a:endParaRPr b="0" i="0">
              <a:solidFill>
                <a:srgbClr val="555555"/>
              </a:solidFill>
              <a:latin typeface="Calibri"/>
              <a:ea typeface="Calibri"/>
              <a:cs typeface="Calibri"/>
            </a:endParaRPr>
          </a:p>
          <a:p>
            <a:pPr>
              <a:lnSpc>
                <a:spcPct val="118000"/>
              </a:lnSpc>
              <a:spcAft>
                <a:spcPts val="400"/>
              </a:spcAft>
            </a:pPr>
            <a:r>
              <a:rPr sz="1800" b="1" i="0">
                <a:solidFill>
                  <a:srgbClr val="1F497D"/>
                </a:solidFill>
                <a:latin typeface="Calibri"/>
              </a:rPr>
              <a:t>•</a:t>
            </a:r>
            <a:r>
              <a:rPr sz="2000" b="1" i="0" dirty="0">
                <a:solidFill>
                  <a:srgbClr val="1F497D"/>
                </a:solidFill>
                <a:latin typeface="Calibri"/>
              </a:rPr>
              <a:t>  </a:t>
            </a:r>
            <a:r>
              <a:rPr sz="2000" b="0" i="0">
                <a:solidFill>
                  <a:srgbClr val="222222"/>
                </a:solidFill>
                <a:latin typeface="Calibri"/>
              </a:rPr>
              <a:t>Monthly granularity</a:t>
            </a:r>
            <a:endParaRPr sz="2000" b="0" i="0">
              <a:solidFill>
                <a:srgbClr val="222222"/>
              </a:solidFill>
              <a:latin typeface="Calibri"/>
              <a:ea typeface="Calibri"/>
              <a:cs typeface="Calibri"/>
            </a:endParaRPr>
          </a:p>
          <a:p>
            <a:pPr lvl="1">
              <a:lnSpc>
                <a:spcPct val="118000"/>
              </a:lnSpc>
              <a:spcAft>
                <a:spcPts val="200"/>
              </a:spcAft>
            </a:pPr>
            <a:r>
              <a:rPr b="0" i="0" dirty="0">
                <a:solidFill>
                  <a:srgbClr val="555555"/>
                </a:solidFill>
                <a:latin typeface="Calibri"/>
              </a:rPr>
              <a:t>–  Misses</a:t>
            </a:r>
            <a:r>
              <a:rPr b="0" i="0">
                <a:solidFill>
                  <a:srgbClr val="555555"/>
                </a:solidFill>
                <a:latin typeface="Calibri"/>
              </a:rPr>
              <a:t> week-of and day-of-week effects that matter for staffing</a:t>
            </a:r>
            <a:endParaRPr b="0" i="0">
              <a:solidFill>
                <a:srgbClr val="555555"/>
              </a:solidFill>
              <a:latin typeface="Calibri"/>
              <a:ea typeface="Calibri"/>
              <a:cs typeface="Calibri"/>
            </a:endParaRPr>
          </a:p>
          <a:p>
            <a:pPr>
              <a:lnSpc>
                <a:spcPct val="118000"/>
              </a:lnSpc>
              <a:spcAft>
                <a:spcPts val="400"/>
              </a:spcAft>
            </a:pPr>
            <a:r>
              <a:rPr sz="1800" b="1" i="0">
                <a:solidFill>
                  <a:srgbClr val="1F497D"/>
                </a:solidFill>
                <a:latin typeface="Calibri"/>
              </a:rPr>
              <a:t>•  </a:t>
            </a:r>
            <a:r>
              <a:rPr sz="2000" b="0" i="0">
                <a:solidFill>
                  <a:srgbClr val="222222"/>
                </a:solidFill>
                <a:latin typeface="Calibri"/>
              </a:rPr>
              <a:t>Model simplicity by design</a:t>
            </a:r>
            <a:endParaRPr sz="2000" b="0" i="0">
              <a:solidFill>
                <a:srgbClr val="222222"/>
              </a:solidFill>
              <a:latin typeface="Calibri"/>
              <a:ea typeface="Calibri"/>
              <a:cs typeface="Calibri"/>
            </a:endParaRPr>
          </a:p>
          <a:p>
            <a:pPr lvl="1">
              <a:lnSpc>
                <a:spcPct val="118000"/>
              </a:lnSpc>
              <a:spcAft>
                <a:spcPts val="200"/>
              </a:spcAft>
            </a:pPr>
            <a:r>
              <a:rPr b="0" i="0">
                <a:solidFill>
                  <a:srgbClr val="555555"/>
                </a:solidFill>
                <a:latin typeface="Calibri"/>
              </a:rPr>
              <a:t>–  Linear and tree baselines only; no deep learning, no Bayesian structure</a:t>
            </a:r>
            <a:endParaRPr b="0" i="0">
              <a:solidFill>
                <a:srgbClr val="555555"/>
              </a:solidFill>
              <a:latin typeface="Calibri"/>
              <a:ea typeface="Calibri"/>
              <a:cs typeface="Calibri"/>
            </a:endParaRPr>
          </a:p>
          <a:p>
            <a:pPr>
              <a:lnSpc>
                <a:spcPct val="118000"/>
              </a:lnSpc>
              <a:spcAft>
                <a:spcPts val="400"/>
              </a:spcAft>
            </a:pPr>
            <a:r>
              <a:rPr sz="1800" b="1" i="0">
                <a:solidFill>
                  <a:srgbClr val="1F497D"/>
                </a:solidFill>
                <a:latin typeface="Calibri"/>
              </a:rPr>
              <a:t>• </a:t>
            </a:r>
            <a:r>
              <a:rPr sz="2000" b="1" i="0" dirty="0">
                <a:solidFill>
                  <a:srgbClr val="1F497D"/>
                </a:solidFill>
                <a:latin typeface="Calibri"/>
              </a:rPr>
              <a:t> </a:t>
            </a:r>
            <a:r>
              <a:rPr sz="2000" b="0" i="0">
                <a:solidFill>
                  <a:srgbClr val="222222"/>
                </a:solidFill>
                <a:latin typeface="Calibri"/>
              </a:rPr>
              <a:t>Google Trends is relative, not absolute</a:t>
            </a:r>
            <a:endParaRPr sz="2000" b="0" i="0">
              <a:solidFill>
                <a:srgbClr val="222222"/>
              </a:solidFill>
              <a:latin typeface="Calibri"/>
              <a:ea typeface="Calibri"/>
              <a:cs typeface="Calibri"/>
            </a:endParaRPr>
          </a:p>
          <a:p>
            <a:pPr lvl="1">
              <a:lnSpc>
                <a:spcPct val="118000"/>
              </a:lnSpc>
              <a:spcAft>
                <a:spcPts val="200"/>
              </a:spcAft>
            </a:pPr>
            <a:r>
              <a:rPr b="0" i="0">
                <a:solidFill>
                  <a:srgbClr val="555555"/>
                </a:solidFill>
                <a:latin typeface="Calibri"/>
              </a:rPr>
              <a:t>–  0–100 within a comparison — not a literal search count</a:t>
            </a:r>
            <a:endParaRPr b="0" i="0">
              <a:solidFill>
                <a:srgbClr val="555555"/>
              </a:solidFill>
              <a:latin typeface="Calibri"/>
              <a:ea typeface="Calibri"/>
              <a:cs typeface="Calibri"/>
            </a:endParaRPr>
          </a:p>
        </p:txBody>
      </p:sp>
      <p:sp>
        <p:nvSpPr>
          <p:cNvPr id="6" name="TextBox 5"/>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9" name="TextBox 8">
            <a:extLst>
              <a:ext uri="{FF2B5EF4-FFF2-40B4-BE49-F238E27FC236}">
                <a16:creationId xmlns:a16="http://schemas.microsoft.com/office/drawing/2014/main" id="{2712C2A7-16DE-23D9-91F5-33682A2C7F2A}"/>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Calibri"/>
                <a:cs typeface="Calibri"/>
              </a:rPr>
              <a:t>28</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733534"/>
          </a:xfrm>
          <a:prstGeom prst="rect">
            <a:avLst/>
          </a:prstGeom>
          <a:noFill/>
        </p:spPr>
        <p:txBody>
          <a:bodyPr wrap="square" lIns="0" tIns="0" rIns="0" bIns="0" anchor="t">
            <a:spAutoFit/>
          </a:bodyPr>
          <a:lstStyle/>
          <a:p>
            <a:pPr algn="l"/>
            <a:r>
              <a:rPr sz="3000" b="1" i="0">
                <a:solidFill>
                  <a:srgbClr val="1F497D"/>
                </a:solidFill>
                <a:latin typeface="Calibri"/>
              </a:rPr>
              <a:t>Things to Further Explore</a:t>
            </a:r>
          </a:p>
          <a:p>
            <a:pPr algn="l">
              <a:spcBef>
                <a:spcPts val="200"/>
              </a:spcBef>
            </a:pPr>
            <a:r>
              <a:rPr sz="1600" b="0" i="1">
                <a:solidFill>
                  <a:srgbClr val="555555"/>
                </a:solidFill>
                <a:latin typeface="Calibri"/>
              </a:rPr>
              <a:t>Where this project goes nex</a:t>
            </a:r>
            <a:r>
              <a:rPr sz="1400" b="0" i="1">
                <a:solidFill>
                  <a:srgbClr val="555555"/>
                </a:solidFill>
                <a:latin typeface="Calibri"/>
              </a:rPr>
              <a:t>t</a:t>
            </a:r>
          </a:p>
        </p:txBody>
      </p:sp>
      <p:sp>
        <p:nvSpPr>
          <p:cNvPr id="4" name="Rectangle 3"/>
          <p:cNvSpPr/>
          <p:nvPr/>
        </p:nvSpPr>
        <p:spPr>
          <a:xfrm>
            <a:off x="502920" y="1078992"/>
            <a:ext cx="2194560" cy="4572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325880"/>
            <a:ext cx="1882695" cy="415498"/>
          </a:xfrm>
          <a:prstGeom prst="rect">
            <a:avLst/>
          </a:prstGeom>
          <a:noFill/>
        </p:spPr>
        <p:txBody>
          <a:bodyPr wrap="none" lIns="45720" tIns="0" rIns="91440" bIns="45720" anchor="t">
            <a:spAutoFit/>
          </a:bodyPr>
          <a:lstStyle/>
          <a:p>
            <a:r>
              <a:rPr sz="2400" b="1" i="0">
                <a:solidFill>
                  <a:srgbClr val="1F497D"/>
                </a:solidFill>
                <a:latin typeface="Calibri"/>
              </a:rPr>
              <a:t>Expand scope</a:t>
            </a:r>
          </a:p>
        </p:txBody>
      </p:sp>
      <p:sp>
        <p:nvSpPr>
          <p:cNvPr id="6" name="TextBox 5"/>
          <p:cNvSpPr txBox="1"/>
          <p:nvPr/>
        </p:nvSpPr>
        <p:spPr>
          <a:xfrm>
            <a:off x="502920" y="1783080"/>
            <a:ext cx="5440680" cy="3425810"/>
          </a:xfrm>
          <a:prstGeom prst="rect">
            <a:avLst/>
          </a:prstGeom>
          <a:noFill/>
        </p:spPr>
        <p:txBody>
          <a:bodyPr wrap="square" lIns="45720" tIns="45720" rIns="91440" bIns="45720" anchor="t">
            <a:spAutoFit/>
          </a:bodyPr>
          <a:lstStyle/>
          <a:p>
            <a:pPr>
              <a:lnSpc>
                <a:spcPct val="118000"/>
              </a:lnSpc>
              <a:spcAft>
                <a:spcPts val="300"/>
              </a:spcAft>
            </a:pPr>
            <a:r>
              <a:rPr sz="2000" b="1" i="0">
                <a:solidFill>
                  <a:srgbClr val="1F497D"/>
                </a:solidFill>
                <a:latin typeface="Calibri"/>
              </a:rPr>
              <a:t>•  </a:t>
            </a:r>
            <a:r>
              <a:rPr sz="2000" b="0" i="0">
                <a:solidFill>
                  <a:srgbClr val="222222"/>
                </a:solidFill>
                <a:latin typeface="Calibri"/>
              </a:rPr>
              <a:t>Add other states / cities</a:t>
            </a:r>
            <a:endParaRPr lang="en-US" sz="2000" b="0" i="0">
              <a:solidFill>
                <a:srgbClr val="222222"/>
              </a:solidFill>
              <a:latin typeface="Calibri"/>
              <a:ea typeface="Calibri"/>
              <a:cs typeface="Calibri"/>
            </a:endParaRPr>
          </a:p>
          <a:p>
            <a:pPr lvl="1">
              <a:lnSpc>
                <a:spcPct val="115000"/>
              </a:lnSpc>
              <a:spcAft>
                <a:spcPts val="100"/>
              </a:spcAft>
            </a:pPr>
            <a:r>
              <a:rPr sz="2000" b="0" i="0">
                <a:solidFill>
                  <a:srgbClr val="555555"/>
                </a:solidFill>
                <a:latin typeface="Calibri"/>
              </a:rPr>
              <a:t>–  Compare LA museums against NY, DC, Chicago, regional sites</a:t>
            </a:r>
            <a:endParaRPr sz="2000" b="0" i="0">
              <a:solidFill>
                <a:srgbClr val="555555"/>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a:solidFill>
                  <a:srgbClr val="222222"/>
                </a:solidFill>
                <a:latin typeface="Calibri"/>
              </a:rPr>
              <a:t>Collect more data</a:t>
            </a:r>
            <a:endParaRPr sz="2000" b="0" i="0">
              <a:solidFill>
                <a:srgbClr val="222222"/>
              </a:solidFill>
              <a:latin typeface="Calibri"/>
              <a:ea typeface="Calibri"/>
              <a:cs typeface="Calibri"/>
            </a:endParaRPr>
          </a:p>
          <a:p>
            <a:pPr lvl="1">
              <a:lnSpc>
                <a:spcPct val="115000"/>
              </a:lnSpc>
              <a:spcAft>
                <a:spcPts val="100"/>
              </a:spcAft>
            </a:pPr>
            <a:r>
              <a:rPr sz="2000" b="0" i="0">
                <a:solidFill>
                  <a:srgbClr val="555555"/>
                </a:solidFill>
                <a:latin typeface="Calibri"/>
              </a:rPr>
              <a:t>–  Longer history per site; daily or weekly granularity</a:t>
            </a:r>
            <a:endParaRPr sz="2000" b="0" i="0">
              <a:solidFill>
                <a:srgbClr val="555555"/>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a:solidFill>
                  <a:srgbClr val="222222"/>
                </a:solidFill>
                <a:latin typeface="Calibri"/>
              </a:rPr>
              <a:t>Compare post-COVID recovery</a:t>
            </a:r>
            <a:endParaRPr sz="2000" b="0" i="0">
              <a:solidFill>
                <a:srgbClr val="222222"/>
              </a:solidFill>
              <a:latin typeface="Calibri"/>
              <a:ea typeface="Calibri"/>
              <a:cs typeface="Calibri"/>
            </a:endParaRPr>
          </a:p>
          <a:p>
            <a:pPr lvl="1">
              <a:lnSpc>
                <a:spcPct val="115000"/>
              </a:lnSpc>
              <a:spcAft>
                <a:spcPts val="100"/>
              </a:spcAft>
            </a:pPr>
            <a:r>
              <a:rPr sz="2000" b="0" i="0">
                <a:solidFill>
                  <a:srgbClr val="555555"/>
                </a:solidFill>
                <a:latin typeface="Calibri"/>
              </a:rPr>
              <a:t>–  Visitation and profitability across museum types</a:t>
            </a:r>
            <a:endParaRPr sz="2000" b="0" i="0">
              <a:solidFill>
                <a:srgbClr val="555555"/>
              </a:solidFill>
              <a:latin typeface="Calibri"/>
              <a:ea typeface="Calibri"/>
              <a:cs typeface="Calibri"/>
            </a:endParaRPr>
          </a:p>
        </p:txBody>
      </p:sp>
      <p:sp>
        <p:nvSpPr>
          <p:cNvPr id="7" name="TextBox 6"/>
          <p:cNvSpPr txBox="1"/>
          <p:nvPr/>
        </p:nvSpPr>
        <p:spPr>
          <a:xfrm>
            <a:off x="6217920" y="1325880"/>
            <a:ext cx="2084673" cy="353943"/>
          </a:xfrm>
          <a:prstGeom prst="rect">
            <a:avLst/>
          </a:prstGeom>
          <a:noFill/>
        </p:spPr>
        <p:txBody>
          <a:bodyPr wrap="none" lIns="45720" tIns="0" rIns="91440" bIns="45720" anchor="t">
            <a:spAutoFit/>
          </a:bodyPr>
          <a:lstStyle/>
          <a:p>
            <a:r>
              <a:rPr sz="2000" b="1" i="0">
                <a:solidFill>
                  <a:srgbClr val="1F497D"/>
                </a:solidFill>
                <a:latin typeface="Calibri"/>
              </a:rPr>
              <a:t>Improve modeling</a:t>
            </a:r>
          </a:p>
        </p:txBody>
      </p:sp>
      <p:sp>
        <p:nvSpPr>
          <p:cNvPr id="8" name="TextBox 7"/>
          <p:cNvSpPr txBox="1"/>
          <p:nvPr/>
        </p:nvSpPr>
        <p:spPr>
          <a:xfrm>
            <a:off x="6217920" y="1783080"/>
            <a:ext cx="5440680" cy="3425810"/>
          </a:xfrm>
          <a:prstGeom prst="rect">
            <a:avLst/>
          </a:prstGeom>
          <a:noFill/>
        </p:spPr>
        <p:txBody>
          <a:bodyPr wrap="square" lIns="45720" tIns="45720" rIns="91440" bIns="45720" anchor="t">
            <a:spAutoFit/>
          </a:bodyPr>
          <a:lstStyle/>
          <a:p>
            <a:pPr>
              <a:lnSpc>
                <a:spcPct val="118000"/>
              </a:lnSpc>
              <a:spcAft>
                <a:spcPts val="300"/>
              </a:spcAft>
            </a:pPr>
            <a:r>
              <a:rPr sz="2000" b="1" i="0">
                <a:solidFill>
                  <a:srgbClr val="1F497D"/>
                </a:solidFill>
                <a:latin typeface="Calibri"/>
              </a:rPr>
              <a:t>•  </a:t>
            </a:r>
            <a:r>
              <a:rPr sz="2000" b="0" i="0">
                <a:solidFill>
                  <a:srgbClr val="222222"/>
                </a:solidFill>
                <a:latin typeface="Calibri"/>
              </a:rPr>
              <a:t>Add real-time signals</a:t>
            </a:r>
            <a:endParaRPr lang="en-US" sz="2000" b="0" i="0">
              <a:solidFill>
                <a:srgbClr val="222222"/>
              </a:solidFill>
              <a:latin typeface="Calibri"/>
              <a:ea typeface="Calibri"/>
              <a:cs typeface="Calibri"/>
            </a:endParaRPr>
          </a:p>
          <a:p>
            <a:pPr lvl="1">
              <a:lnSpc>
                <a:spcPct val="115000"/>
              </a:lnSpc>
              <a:spcAft>
                <a:spcPts val="100"/>
              </a:spcAft>
            </a:pPr>
            <a:r>
              <a:rPr sz="2000" b="0" i="0">
                <a:solidFill>
                  <a:srgbClr val="555555"/>
                </a:solidFill>
                <a:latin typeface="Calibri"/>
              </a:rPr>
              <a:t>–  Live Google Trends, ticketing API, weather forecasts</a:t>
            </a:r>
            <a:endParaRPr sz="2000" b="0" i="0">
              <a:solidFill>
                <a:srgbClr val="555555"/>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a:solidFill>
                  <a:srgbClr val="222222"/>
                </a:solidFill>
                <a:latin typeface="Calibri"/>
              </a:rPr>
              <a:t>Test advanced models</a:t>
            </a:r>
            <a:endParaRPr sz="2000" b="0" i="0">
              <a:solidFill>
                <a:srgbClr val="222222"/>
              </a:solidFill>
              <a:latin typeface="Calibri"/>
              <a:ea typeface="Calibri"/>
              <a:cs typeface="Calibri"/>
            </a:endParaRPr>
          </a:p>
          <a:p>
            <a:pPr lvl="1">
              <a:lnSpc>
                <a:spcPct val="115000"/>
              </a:lnSpc>
              <a:spcAft>
                <a:spcPts val="100"/>
              </a:spcAft>
            </a:pPr>
            <a:r>
              <a:rPr sz="2000" b="0" i="0">
                <a:solidFill>
                  <a:srgbClr val="555555"/>
                </a:solidFill>
                <a:latin typeface="Calibri"/>
              </a:rPr>
              <a:t>–  Gradient boosting with proper CV, Prophet / SARIMAX, small neural nets</a:t>
            </a:r>
            <a:endParaRPr sz="2000" b="0" i="0">
              <a:solidFill>
                <a:srgbClr val="555555"/>
              </a:solidFill>
              <a:latin typeface="Calibri"/>
              <a:ea typeface="Calibri"/>
              <a:cs typeface="Calibri"/>
            </a:endParaRPr>
          </a:p>
          <a:p>
            <a:pPr>
              <a:lnSpc>
                <a:spcPct val="118000"/>
              </a:lnSpc>
              <a:spcAft>
                <a:spcPts val="300"/>
              </a:spcAft>
            </a:pPr>
            <a:r>
              <a:rPr sz="2000" b="1" i="0">
                <a:solidFill>
                  <a:srgbClr val="1F497D"/>
                </a:solidFill>
                <a:latin typeface="Calibri"/>
              </a:rPr>
              <a:t>•  </a:t>
            </a:r>
            <a:r>
              <a:rPr sz="2000" b="0" i="0">
                <a:solidFill>
                  <a:srgbClr val="222222"/>
                </a:solidFill>
                <a:latin typeface="Calibri"/>
              </a:rPr>
              <a:t>Refine features</a:t>
            </a:r>
            <a:endParaRPr sz="2000" b="0" i="0">
              <a:solidFill>
                <a:srgbClr val="222222"/>
              </a:solidFill>
              <a:latin typeface="Calibri"/>
              <a:ea typeface="Calibri"/>
              <a:cs typeface="Calibri"/>
            </a:endParaRPr>
          </a:p>
          <a:p>
            <a:pPr lvl="1">
              <a:lnSpc>
                <a:spcPct val="115000"/>
              </a:lnSpc>
              <a:spcAft>
                <a:spcPts val="100"/>
              </a:spcAft>
            </a:pPr>
            <a:r>
              <a:rPr sz="2000" b="0" i="0">
                <a:solidFill>
                  <a:srgbClr val="555555"/>
                </a:solidFill>
                <a:latin typeface="Calibri"/>
              </a:rPr>
              <a:t>–  De-duplicate Trends keywords up front; richer event flags</a:t>
            </a:r>
            <a:endParaRPr sz="2000" b="0" i="0">
              <a:solidFill>
                <a:srgbClr val="555555"/>
              </a:solidFill>
              <a:latin typeface="Calibri"/>
              <a:ea typeface="Calibri"/>
              <a:cs typeface="Calibri"/>
            </a:endParaRPr>
          </a:p>
        </p:txBody>
      </p:sp>
      <p:sp>
        <p:nvSpPr>
          <p:cNvPr id="9" name="TextBox 8"/>
          <p:cNvSpPr txBox="1"/>
          <p:nvPr/>
        </p:nvSpPr>
        <p:spPr>
          <a:xfrm>
            <a:off x="457200" y="6446520"/>
            <a:ext cx="9144000" cy="292608"/>
          </a:xfrm>
          <a:prstGeom prst="rect">
            <a:avLst/>
          </a:prstGeom>
          <a:noFill/>
        </p:spPr>
        <p:txBody>
          <a:bodyPr wrap="none" lIns="0" tIns="0" rIns="0" bIns="0">
            <a:spAutoFit/>
          </a:bodyPr>
          <a:lstStyle/>
          <a:p>
            <a:pPr algn="l"/>
            <a:r>
              <a:rPr sz="1000" b="0" i="1">
                <a:solidFill>
                  <a:srgbClr val="8C8C8C"/>
                </a:solidFill>
                <a:latin typeface="Calibri"/>
              </a:rPr>
              <a:t>Predicting Museum Visitation  |  SEIS 763-02</a:t>
            </a:r>
          </a:p>
        </p:txBody>
      </p:sp>
      <p:sp>
        <p:nvSpPr>
          <p:cNvPr id="12" name="TextBox 11">
            <a:extLst>
              <a:ext uri="{FF2B5EF4-FFF2-40B4-BE49-F238E27FC236}">
                <a16:creationId xmlns:a16="http://schemas.microsoft.com/office/drawing/2014/main" id="{6EE8AC55-DF3F-0BAE-6065-D113E992D3C3}"/>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Calibri"/>
                <a:cs typeface="Calibri"/>
              </a:rPr>
              <a:t>29</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377440"/>
            <a:ext cx="12191695" cy="219456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606040"/>
            <a:ext cx="11247120" cy="914400"/>
          </a:xfrm>
          <a:prstGeom prst="rect">
            <a:avLst/>
          </a:prstGeom>
          <a:noFill/>
        </p:spPr>
        <p:txBody>
          <a:bodyPr wrap="none">
            <a:spAutoFit/>
          </a:bodyPr>
          <a:lstStyle/>
          <a:p>
            <a:pPr algn="ctr"/>
            <a:r>
              <a:rPr sz="5400" b="1" i="0" dirty="0">
                <a:solidFill>
                  <a:srgbClr val="FFFFFF"/>
                </a:solidFill>
                <a:latin typeface="Calibri"/>
              </a:rPr>
              <a:t>Questions?</a:t>
            </a:r>
          </a:p>
        </p:txBody>
      </p:sp>
      <p:sp>
        <p:nvSpPr>
          <p:cNvPr id="5" name="TextBox 4"/>
          <p:cNvSpPr txBox="1"/>
          <p:nvPr/>
        </p:nvSpPr>
        <p:spPr>
          <a:xfrm>
            <a:off x="457200" y="3611880"/>
            <a:ext cx="11247120" cy="731520"/>
          </a:xfrm>
          <a:prstGeom prst="rect">
            <a:avLst/>
          </a:prstGeom>
          <a:noFill/>
        </p:spPr>
        <p:txBody>
          <a:bodyPr wrap="none">
            <a:spAutoFit/>
          </a:bodyPr>
          <a:lstStyle/>
          <a:p>
            <a:pPr algn="ctr"/>
            <a:r>
              <a:rPr sz="1800" b="0" i="1">
                <a:solidFill>
                  <a:srgbClr val="FFFFFF"/>
                </a:solidFill>
                <a:latin typeface="Calibri"/>
              </a:rPr>
              <a:t>Thank you  —  museum-visitation-project  —  SEIS 763-02</a:t>
            </a:r>
          </a:p>
        </p:txBody>
      </p:sp>
      <p:sp>
        <p:nvSpPr>
          <p:cNvPr id="6" name="TextBox 5"/>
          <p:cNvSpPr txBox="1"/>
          <p:nvPr/>
        </p:nvSpPr>
        <p:spPr>
          <a:xfrm>
            <a:off x="457200" y="4937760"/>
            <a:ext cx="11247120" cy="457200"/>
          </a:xfrm>
          <a:prstGeom prst="rect">
            <a:avLst/>
          </a:prstGeom>
          <a:noFill/>
        </p:spPr>
        <p:txBody>
          <a:bodyPr wrap="none">
            <a:spAutoFit/>
          </a:bodyPr>
          <a:lstStyle/>
          <a:p>
            <a:pPr algn="ctr"/>
            <a:r>
              <a:rPr sz="1400" b="0" i="0">
                <a:solidFill>
                  <a:srgbClr val="555555"/>
                </a:solidFill>
                <a:latin typeface="Calibri"/>
              </a:rPr>
              <a:t>github.com/Andy-FireClimWx/museum-visitation-project</a:t>
            </a:r>
          </a:p>
        </p:txBody>
      </p:sp>
      <p:sp>
        <p:nvSpPr>
          <p:cNvPr id="9" name="TextBox 8">
            <a:extLst>
              <a:ext uri="{FF2B5EF4-FFF2-40B4-BE49-F238E27FC236}">
                <a16:creationId xmlns:a16="http://schemas.microsoft.com/office/drawing/2014/main" id="{95ECE617-59F0-A9F5-5B49-467C69263B74}"/>
              </a:ext>
            </a:extLst>
          </p:cNvPr>
          <p:cNvSpPr txBox="1"/>
          <p:nvPr/>
        </p:nvSpPr>
        <p:spPr>
          <a:xfrm>
            <a:off x="11368585" y="6390625"/>
            <a:ext cx="5886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Calibri"/>
                <a:cs typeface="Calibri"/>
              </a:rPr>
              <a:t>30</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3395</Words>
  <Application>Microsoft Office PowerPoint</Application>
  <PresentationFormat>Widescreen</PresentationFormat>
  <Paragraphs>339</Paragraphs>
  <Slides>30</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Pachee Vang</dc:creator>
  <cp:keywords/>
  <dc:description>generated using python-pptx</dc:description>
  <cp:lastModifiedBy>Editor</cp:lastModifiedBy>
  <cp:revision>19</cp:revision>
  <dcterms:created xsi:type="dcterms:W3CDTF">2013-01-27T09:14:16Z</dcterms:created>
  <dcterms:modified xsi:type="dcterms:W3CDTF">2026-05-15T01:38:49Z</dcterms:modified>
  <cp:category/>
</cp:coreProperties>
</file>